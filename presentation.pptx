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66" r:id="rId13"/>
    <p:sldId id="267" r:id="rId14"/>
    <p:sldId id="269" r:id="rId15"/>
    <p:sldId id="270" r:id="rId16"/>
    <p:sldId id="271" r:id="rId17"/>
    <p:sldId id="268" r:id="rId18"/>
    <p:sldId id="272" r:id="rId19"/>
    <p:sldId id="273" r:id="rId20"/>
  </p:sldIdLst>
  <p:sldSz cx="18288000" cy="10287000"/>
  <p:notesSz cx="6858000" cy="9144000"/>
  <p:embeddedFontLst>
    <p:embeddedFont>
      <p:font typeface="Allerta Stencil" panose="020B0604020202020204" charset="0"/>
      <p:regular r:id="rId22"/>
    </p:embeddedFont>
    <p:embeddedFont>
      <p:font typeface="Georgia Pro" panose="02040502050405020303" pitchFamily="18" charset="0"/>
      <p:regular r:id="rId23"/>
    </p:embeddedFont>
    <p:embeddedFont>
      <p:font typeface="Georgia Pro Bold" panose="02040802050405020203" charset="0"/>
      <p:regular r:id="rId24"/>
    </p:embeddedFont>
    <p:embeddedFont>
      <p:font typeface="HK Grotesk" panose="020B0604020202020204" charset="0"/>
      <p:regular r:id="rId25"/>
    </p:embeddedFont>
    <p:embeddedFont>
      <p:font typeface="HK Grotesk Bold" panose="020B0604020202020204" charset="0"/>
      <p:regular r:id="rId26"/>
    </p:embeddedFont>
    <p:embeddedFont>
      <p:font typeface="HK Grotesk Medium" panose="020B0604020202020204" charset="0"/>
      <p:regular r:id="rId27"/>
    </p:embeddedFont>
    <p:embeddedFont>
      <p:font typeface="Times New Roman MT" panose="020B0604020202020204" charset="0"/>
      <p:regular r:id="rId28"/>
    </p:embeddedFont>
    <p:embeddedFont>
      <p:font typeface="Times New Roman MT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uhail bechchari" initials="Sb" lastIdx="1" clrIdx="0">
    <p:extLst>
      <p:ext uri="{19B8F6BF-5375-455C-9EA6-DF929625EA0E}">
        <p15:presenceInfo xmlns:p15="http://schemas.microsoft.com/office/powerpoint/2012/main" userId="6d8cca23f0a224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1T10:19:52.065" idx="1">
    <p:pos x="10" y="10"/>
    <p:text>jjjjjjjjj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E4B0C-7E89-4B11-95C5-3B8D0689CB58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80088F-C046-4FFA-9D40-9C101B9940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379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concrétiser cette architecture, nous avons sélectionné une pile technologique moderne et robuste, divisée en 4 grands pôles :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Commençons par l'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Intelligence Artificielle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Nous avons utilisé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YOLOv8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la détection pure, soutenu par le moteur Deep Learning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Pour manipuler les images et les flux vidéo de manière mathématique, nous nous sommes appuyés sur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OpenCV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et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le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c'est-à-dire le cœur de notre serveur, nous avons programmé en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Nous avons choisi le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couplé au serveur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Uvicorn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leurs performances asynchrones exceptionnelles.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 côté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pour que l'opérateur ait une interface propre et réactive, nous sommes restés sur les standards du web :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HTML5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CSS3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et du JavaScript moderne (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ES6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Enfin, pour lier le Frontend et le Backend, particulièrement pour la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en temps réel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avons intégré les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C'est ce qui nous permet d'avoir un flux vidéo fluide sans recharger la page."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0088F-C046-4FFA-9D40-9C101B9940B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7137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Utilisateur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sélectionne et charge une image depuis l'interface de son navigateur.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navigateur envoie une requête HTTP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classique vers la route api/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/image de notre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Serveur 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 y joignant le fichier.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Côté serveur,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commence par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décoder et prétraiter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cette image (via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OpenCV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NumPy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pour la mettre au format attendu par l'IA. Il envoie ensuite cette image au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 YOLO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lancer l'Inférence.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modèle analyse l'image (le processus de détection) et retourne au serveur les résultats mathématiques : les coordonnées des boîtes englobantes, les classes détectées et les scores de confiance.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partir de ces données, le Serveur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générer une nouvelle image annotée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(en dessinant les carrés rouges ou verts) et va la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sauvegarder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sur le disque dur (sous un nom comme result_detection_123.jpg).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Enfin, le serveur renvoie au navigateur une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réponse HTTP 200 OK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contenant un fichier JSON. Ce JSON contient l'URL de la nouvelle image annotée et les statistiques. Le navigateur met alors à jour l'écran pour afficher le résultat final à l'utilisateur."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0088F-C046-4FFA-9D40-9C101B9940B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08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diagramme illustre le cœur de notre système temps réel. Voici comment la magie opère en coulisses, de gauche à droite :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commence du côté de l'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Utilisateur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(dans le navigateur Web). La webcam capture une image (une 'Frame'). Cette image est encodée en texte (au format Base64) et envoyée instantanément au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Serveur 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via une connexion continue appelée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Dès que le serveur reçoit l'image, il l'envoie au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 YOLO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l'étape d'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Inférence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(c'est-à-dire l'analyse par l'intelligence artificielle pour trouver les casques, gilets, etc.).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YOLO fait ses calculs très rapidement et renvoie les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Détections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(les coordonnées des boîtes et les étiquettes) au Serveur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serveur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dessine ces boîtes sur l'image et renvoie immédiatement l'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Annotée (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Annotated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Frame)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au navigateur, toujours via le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Enfin, le navigateur reçoit cette nouvelle image et l'affiche à l'écran grâce à un élément graphique web appelé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Canvas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0088F-C046-4FFA-9D40-9C101B9940B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8195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Côté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 (User)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nous avons le navigateur web. Au premier lancement, il fait de simples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Requêtes HTTP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charger l'interface utilisateur (nos fichiers HTML, CSS et JS). Le navigateur gère aussi la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Capture Webcam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la vidéo en direct, le client initie une connexion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 flux vidéo ne passe pas par des requêtes HTTP classiques, mais par ce tunnel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rapide et bidirectionnel en vert, jusqu'à notre serveur.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Côté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Serveur (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DetectAI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Backend)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c'est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qui réceptionne ces données. Il ne travaille pas seul : il délègue le traitement vidéo et le prétraitement de l'image (découpage, redimensionnement) à la bibliothèque </a:t>
            </a:r>
            <a:r>
              <a:rPr lang="fr-F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OpenCV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Ensuite,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OpenCV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envoie cette matrice d'image propre au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 YOLOv8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(ou v11 selon la version testée). C'est ici que l'intelligence artificielle fait l'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Inférence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(la détection des équipements de sécurité).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Enfin, YOLO renvoie les coordonnées à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OpenCV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 </a:t>
            </a:r>
            <a:r>
              <a:rPr lang="fr-FR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Annoter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l'image (dessiner les boîtes).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reprend cette image finale et la renvoie à travers le </a:t>
            </a:r>
            <a:r>
              <a:rPr lang="fr-F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jusqu'au navigateur de l'utilisateur."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80088F-C046-4FFA-9D40-9C101B9940B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637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62706" y="7315481"/>
            <a:ext cx="2983548" cy="136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Présenté par :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Souhail BECHCHARI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Oubaydoullah ASLI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Yassine Lamghari El Kossori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22876" y="7982231"/>
            <a:ext cx="4736424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Encadré par Dr. Aniq El Mehdi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65068" y="6488939"/>
            <a:ext cx="1957864" cy="36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3iir G2 - 2025/2026</a:t>
            </a:r>
          </a:p>
        </p:txBody>
      </p:sp>
      <p:sp>
        <p:nvSpPr>
          <p:cNvPr id="5" name="Freeform 5"/>
          <p:cNvSpPr/>
          <p:nvPr/>
        </p:nvSpPr>
        <p:spPr>
          <a:xfrm>
            <a:off x="6342745" y="690770"/>
            <a:ext cx="5602510" cy="1225549"/>
          </a:xfrm>
          <a:custGeom>
            <a:avLst/>
            <a:gdLst/>
            <a:ahLst/>
            <a:cxnLst/>
            <a:rect l="l" t="t" r="r" b="b"/>
            <a:pathLst>
              <a:path w="5602510" h="1225549">
                <a:moveTo>
                  <a:pt x="0" y="0"/>
                </a:moveTo>
                <a:lnTo>
                  <a:pt x="5602510" y="0"/>
                </a:lnTo>
                <a:lnTo>
                  <a:pt x="5602510" y="1225549"/>
                </a:lnTo>
                <a:lnTo>
                  <a:pt x="0" y="1225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08567" y="3316374"/>
            <a:ext cx="15044141" cy="225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6"/>
              </a:lnSpc>
            </a:pPr>
            <a:r>
              <a:rPr lang="en-US" sz="6997" b="1" dirty="0" err="1">
                <a:solidFill>
                  <a:srgbClr val="0635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DetectAI</a:t>
            </a:r>
            <a:r>
              <a:rPr lang="en-US" sz="6997" b="1" dirty="0">
                <a:solidFill>
                  <a:srgbClr val="0635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: Système intelligent de </a:t>
            </a:r>
            <a:r>
              <a:rPr lang="en-US" sz="6997" b="1" dirty="0" err="1">
                <a:solidFill>
                  <a:srgbClr val="0635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détection</a:t>
            </a:r>
            <a:r>
              <a:rPr lang="en-US" sz="6997" b="1" dirty="0">
                <a:solidFill>
                  <a:srgbClr val="0635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des </a:t>
            </a:r>
            <a:r>
              <a:rPr lang="en-US" sz="6997" b="1" dirty="0" err="1">
                <a:solidFill>
                  <a:srgbClr val="0635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équipements</a:t>
            </a:r>
            <a:r>
              <a:rPr lang="en-US" sz="6997" b="1" dirty="0">
                <a:solidFill>
                  <a:srgbClr val="0635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de </a:t>
            </a:r>
            <a:r>
              <a:rPr lang="en-US" sz="6997" b="1" dirty="0" err="1">
                <a:solidFill>
                  <a:srgbClr val="063566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sécurité</a:t>
            </a:r>
            <a:endParaRPr lang="en-US" sz="6997" b="1" dirty="0">
              <a:solidFill>
                <a:srgbClr val="063566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02713" y="5474065"/>
            <a:ext cx="537530" cy="53753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566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64272" y="5474065"/>
            <a:ext cx="537530" cy="53753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25832" y="5474065"/>
            <a:ext cx="537530" cy="53753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003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87391" y="5474065"/>
            <a:ext cx="537530" cy="53753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4B7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48951" y="5474065"/>
            <a:ext cx="537530" cy="53753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2BE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4375" y="5474065"/>
            <a:ext cx="537530" cy="537530"/>
            <a:chOff x="0" y="0"/>
            <a:chExt cx="716706" cy="716706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716706" cy="716706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90A8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186179"/>
              <a:ext cx="716706" cy="344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3"/>
                </a:lnSpc>
              </a:pPr>
              <a:r>
                <a:rPr lang="en-US" sz="1694" b="1">
                  <a:solidFill>
                    <a:srgbClr val="FFFFFF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01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8642" y="3359021"/>
            <a:ext cx="1320124" cy="132012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90A8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4486" y="3511519"/>
            <a:ext cx="1015128" cy="1015128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798989" y="3359021"/>
            <a:ext cx="1320124" cy="132012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5666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948054" y="3511519"/>
            <a:ext cx="1015128" cy="1015128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72975" y="3359021"/>
            <a:ext cx="1320124" cy="132012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22041" y="3511519"/>
            <a:ext cx="1015128" cy="1015128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20827" y="3359021"/>
            <a:ext cx="1320124" cy="132012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003B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69892" y="3511519"/>
            <a:ext cx="1015128" cy="1015128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69142" y="3359021"/>
            <a:ext cx="1320124" cy="1320124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4B74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718207" y="3511519"/>
            <a:ext cx="1015128" cy="1015128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875181" y="3359021"/>
            <a:ext cx="1320124" cy="1320124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2BE1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024246" y="3511519"/>
            <a:ext cx="1015128" cy="1015128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sp>
        <p:nvSpPr>
          <p:cNvPr id="58" name="Freeform 58"/>
          <p:cNvSpPr/>
          <p:nvPr/>
        </p:nvSpPr>
        <p:spPr>
          <a:xfrm>
            <a:off x="2295808" y="3904138"/>
            <a:ext cx="132918" cy="229890"/>
          </a:xfrm>
          <a:custGeom>
            <a:avLst/>
            <a:gdLst/>
            <a:ahLst/>
            <a:cxnLst/>
            <a:rect l="l" t="t" r="r" b="b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4529585" y="3904138"/>
            <a:ext cx="132918" cy="229890"/>
          </a:xfrm>
          <a:custGeom>
            <a:avLst/>
            <a:gdLst/>
            <a:ahLst/>
            <a:cxnLst/>
            <a:rect l="l" t="t" r="r" b="b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6790504" y="3845555"/>
            <a:ext cx="132918" cy="229890"/>
          </a:xfrm>
          <a:custGeom>
            <a:avLst/>
            <a:gdLst/>
            <a:ahLst/>
            <a:cxnLst/>
            <a:rect l="l" t="t" r="r" b="b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9012227" y="3789193"/>
            <a:ext cx="132918" cy="229890"/>
          </a:xfrm>
          <a:custGeom>
            <a:avLst/>
            <a:gdLst/>
            <a:ahLst/>
            <a:cxnLst/>
            <a:rect l="l" t="t" r="r" b="b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1315764" y="3789193"/>
            <a:ext cx="132918" cy="229890"/>
          </a:xfrm>
          <a:custGeom>
            <a:avLst/>
            <a:gdLst/>
            <a:ahLst/>
            <a:cxnLst/>
            <a:rect l="l" t="t" r="r" b="b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3" name="AutoShape 63"/>
          <p:cNvSpPr/>
          <p:nvPr/>
        </p:nvSpPr>
        <p:spPr>
          <a:xfrm flipH="1" flipV="1">
            <a:off x="1224198" y="4678258"/>
            <a:ext cx="0" cy="795807"/>
          </a:xfrm>
          <a:prstGeom prst="line">
            <a:avLst/>
          </a:prstGeom>
          <a:ln w="19050" cap="flat">
            <a:solidFill>
              <a:srgbClr val="000000">
                <a:alpha val="9804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 flipV="1">
            <a:off x="3457198" y="4679145"/>
            <a:ext cx="0" cy="795807"/>
          </a:xfrm>
          <a:prstGeom prst="line">
            <a:avLst/>
          </a:prstGeom>
          <a:ln w="19050" cap="flat">
            <a:solidFill>
              <a:srgbClr val="000000">
                <a:alpha val="9804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5" name="AutoShape 65"/>
          <p:cNvSpPr/>
          <p:nvPr/>
        </p:nvSpPr>
        <p:spPr>
          <a:xfrm flipV="1">
            <a:off x="5747317" y="4672270"/>
            <a:ext cx="0" cy="795807"/>
          </a:xfrm>
          <a:prstGeom prst="line">
            <a:avLst/>
          </a:prstGeom>
          <a:ln w="19050" cap="flat">
            <a:solidFill>
              <a:srgbClr val="000000">
                <a:alpha val="9804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6" name="AutoShape 66"/>
          <p:cNvSpPr/>
          <p:nvPr/>
        </p:nvSpPr>
        <p:spPr>
          <a:xfrm flipV="1">
            <a:off x="7977456" y="4672270"/>
            <a:ext cx="0" cy="795807"/>
          </a:xfrm>
          <a:prstGeom prst="line">
            <a:avLst/>
          </a:prstGeom>
          <a:ln w="19050" cap="flat">
            <a:solidFill>
              <a:srgbClr val="000000">
                <a:alpha val="9804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7" name="AutoShape 67"/>
          <p:cNvSpPr/>
          <p:nvPr/>
        </p:nvSpPr>
        <p:spPr>
          <a:xfrm flipV="1">
            <a:off x="10270436" y="4672270"/>
            <a:ext cx="0" cy="795807"/>
          </a:xfrm>
          <a:prstGeom prst="line">
            <a:avLst/>
          </a:prstGeom>
          <a:ln w="19050" cap="flat">
            <a:solidFill>
              <a:srgbClr val="000000">
                <a:alpha val="9804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8" name="AutoShape 68"/>
          <p:cNvSpPr/>
          <p:nvPr/>
        </p:nvSpPr>
        <p:spPr>
          <a:xfrm flipV="1">
            <a:off x="12531996" y="4672270"/>
            <a:ext cx="0" cy="795807"/>
          </a:xfrm>
          <a:prstGeom prst="line">
            <a:avLst/>
          </a:prstGeom>
          <a:ln w="19050" cap="flat">
            <a:solidFill>
              <a:srgbClr val="000000">
                <a:alpha val="9804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9" name="Freeform 69"/>
          <p:cNvSpPr/>
          <p:nvPr/>
        </p:nvSpPr>
        <p:spPr>
          <a:xfrm>
            <a:off x="1077941" y="3627964"/>
            <a:ext cx="393963" cy="782238"/>
          </a:xfrm>
          <a:custGeom>
            <a:avLst/>
            <a:gdLst/>
            <a:ahLst/>
            <a:cxnLst/>
            <a:rect l="l" t="t" r="r" b="b"/>
            <a:pathLst>
              <a:path w="393963" h="782238">
                <a:moveTo>
                  <a:pt x="0" y="0"/>
                </a:moveTo>
                <a:lnTo>
                  <a:pt x="393963" y="0"/>
                </a:lnTo>
                <a:lnTo>
                  <a:pt x="393963" y="782238"/>
                </a:lnTo>
                <a:lnTo>
                  <a:pt x="0" y="78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7706910" y="3773000"/>
            <a:ext cx="556452" cy="447903"/>
          </a:xfrm>
          <a:custGeom>
            <a:avLst/>
            <a:gdLst/>
            <a:ahLst/>
            <a:cxnLst/>
            <a:rect l="l" t="t" r="r" b="b"/>
            <a:pathLst>
              <a:path w="556452" h="447903">
                <a:moveTo>
                  <a:pt x="0" y="0"/>
                </a:moveTo>
                <a:lnTo>
                  <a:pt x="556452" y="0"/>
                </a:lnTo>
                <a:lnTo>
                  <a:pt x="556452" y="447903"/>
                </a:lnTo>
                <a:lnTo>
                  <a:pt x="0" y="4479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5442476" y="3789193"/>
            <a:ext cx="668378" cy="490954"/>
          </a:xfrm>
          <a:custGeom>
            <a:avLst/>
            <a:gdLst/>
            <a:ahLst/>
            <a:cxnLst/>
            <a:rect l="l" t="t" r="r" b="b"/>
            <a:pathLst>
              <a:path w="668378" h="490954">
                <a:moveTo>
                  <a:pt x="0" y="0"/>
                </a:moveTo>
                <a:lnTo>
                  <a:pt x="668378" y="0"/>
                </a:lnTo>
                <a:lnTo>
                  <a:pt x="668378" y="490954"/>
                </a:lnTo>
                <a:lnTo>
                  <a:pt x="0" y="4909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72" name="Group 72"/>
          <p:cNvGrpSpPr/>
          <p:nvPr/>
        </p:nvGrpSpPr>
        <p:grpSpPr>
          <a:xfrm>
            <a:off x="14498625" y="5474065"/>
            <a:ext cx="537530" cy="537530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82028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4124855" y="3359021"/>
            <a:ext cx="1320124" cy="1320124"/>
            <a:chOff x="0" y="0"/>
            <a:chExt cx="812800" cy="812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82028"/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4273920" y="3511519"/>
            <a:ext cx="1015128" cy="1015128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sp>
        <p:nvSpPr>
          <p:cNvPr id="81" name="Freeform 81"/>
          <p:cNvSpPr/>
          <p:nvPr/>
        </p:nvSpPr>
        <p:spPr>
          <a:xfrm>
            <a:off x="13565438" y="3789193"/>
            <a:ext cx="132918" cy="229890"/>
          </a:xfrm>
          <a:custGeom>
            <a:avLst/>
            <a:gdLst/>
            <a:ahLst/>
            <a:cxnLst/>
            <a:rect l="l" t="t" r="r" b="b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2" name="AutoShape 82"/>
          <p:cNvSpPr/>
          <p:nvPr/>
        </p:nvSpPr>
        <p:spPr>
          <a:xfrm flipV="1">
            <a:off x="14781670" y="4672270"/>
            <a:ext cx="0" cy="795807"/>
          </a:xfrm>
          <a:prstGeom prst="line">
            <a:avLst/>
          </a:prstGeom>
          <a:ln w="19050" cap="flat">
            <a:solidFill>
              <a:srgbClr val="000000">
                <a:alpha val="9804"/>
              </a:srgbClr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83" name="Group 83"/>
          <p:cNvGrpSpPr/>
          <p:nvPr/>
        </p:nvGrpSpPr>
        <p:grpSpPr>
          <a:xfrm>
            <a:off x="16795885" y="5474065"/>
            <a:ext cx="537530" cy="537530"/>
            <a:chOff x="0" y="0"/>
            <a:chExt cx="812800" cy="812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6422115" y="3359021"/>
            <a:ext cx="1320124" cy="1320124"/>
            <a:chOff x="0" y="0"/>
            <a:chExt cx="812800" cy="8128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id="88" name="TextBox 8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6571180" y="3511519"/>
            <a:ext cx="1015128" cy="1015128"/>
            <a:chOff x="0" y="0"/>
            <a:chExt cx="812800" cy="8128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12"/>
                </a:lnSpc>
              </a:pPr>
              <a:endParaRPr/>
            </a:p>
          </p:txBody>
        </p:sp>
      </p:grpSp>
      <p:sp>
        <p:nvSpPr>
          <p:cNvPr id="92" name="Freeform 92"/>
          <p:cNvSpPr/>
          <p:nvPr/>
        </p:nvSpPr>
        <p:spPr>
          <a:xfrm>
            <a:off x="15862699" y="3789193"/>
            <a:ext cx="132918" cy="229890"/>
          </a:xfrm>
          <a:custGeom>
            <a:avLst/>
            <a:gdLst/>
            <a:ahLst/>
            <a:cxnLst/>
            <a:rect l="l" t="t" r="r" b="b"/>
            <a:pathLst>
              <a:path w="132918" h="229890">
                <a:moveTo>
                  <a:pt x="0" y="0"/>
                </a:moveTo>
                <a:lnTo>
                  <a:pt x="132918" y="0"/>
                </a:lnTo>
                <a:lnTo>
                  <a:pt x="132918" y="229890"/>
                </a:lnTo>
                <a:lnTo>
                  <a:pt x="0" y="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3" name="AutoShape 93"/>
          <p:cNvSpPr/>
          <p:nvPr/>
        </p:nvSpPr>
        <p:spPr>
          <a:xfrm flipV="1">
            <a:off x="17078930" y="4672270"/>
            <a:ext cx="0" cy="795807"/>
          </a:xfrm>
          <a:prstGeom prst="line">
            <a:avLst/>
          </a:prstGeom>
          <a:ln w="19050" cap="flat">
            <a:solidFill>
              <a:srgbClr val="000000">
                <a:alpha val="9804"/>
              </a:srgbClr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94" name="Freeform 94"/>
          <p:cNvSpPr/>
          <p:nvPr/>
        </p:nvSpPr>
        <p:spPr>
          <a:xfrm>
            <a:off x="16813203" y="3815027"/>
            <a:ext cx="537949" cy="363849"/>
          </a:xfrm>
          <a:custGeom>
            <a:avLst/>
            <a:gdLst/>
            <a:ahLst/>
            <a:cxnLst/>
            <a:rect l="l" t="t" r="r" b="b"/>
            <a:pathLst>
              <a:path w="537949" h="363849">
                <a:moveTo>
                  <a:pt x="0" y="0"/>
                </a:moveTo>
                <a:lnTo>
                  <a:pt x="537949" y="0"/>
                </a:lnTo>
                <a:lnTo>
                  <a:pt x="537949" y="363849"/>
                </a:lnTo>
                <a:lnTo>
                  <a:pt x="0" y="3638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5" name="Freeform 95"/>
          <p:cNvSpPr/>
          <p:nvPr/>
        </p:nvSpPr>
        <p:spPr>
          <a:xfrm>
            <a:off x="3114563" y="3596040"/>
            <a:ext cx="672072" cy="801822"/>
          </a:xfrm>
          <a:custGeom>
            <a:avLst/>
            <a:gdLst/>
            <a:ahLst/>
            <a:cxnLst/>
            <a:rect l="l" t="t" r="r" b="b"/>
            <a:pathLst>
              <a:path w="672072" h="801822">
                <a:moveTo>
                  <a:pt x="0" y="0"/>
                </a:moveTo>
                <a:lnTo>
                  <a:pt x="672072" y="0"/>
                </a:lnTo>
                <a:lnTo>
                  <a:pt x="672072" y="801822"/>
                </a:lnTo>
                <a:lnTo>
                  <a:pt x="0" y="8018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6" name="Freeform 96"/>
          <p:cNvSpPr/>
          <p:nvPr/>
        </p:nvSpPr>
        <p:spPr>
          <a:xfrm>
            <a:off x="14474761" y="3724515"/>
            <a:ext cx="620310" cy="620310"/>
          </a:xfrm>
          <a:custGeom>
            <a:avLst/>
            <a:gdLst/>
            <a:ahLst/>
            <a:cxnLst/>
            <a:rect l="l" t="t" r="r" b="b"/>
            <a:pathLst>
              <a:path w="620310" h="620310">
                <a:moveTo>
                  <a:pt x="0" y="0"/>
                </a:moveTo>
                <a:lnTo>
                  <a:pt x="620311" y="0"/>
                </a:lnTo>
                <a:lnTo>
                  <a:pt x="620311" y="620310"/>
                </a:lnTo>
                <a:lnTo>
                  <a:pt x="0" y="6203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7" name="Freeform 97"/>
          <p:cNvSpPr/>
          <p:nvPr/>
        </p:nvSpPr>
        <p:spPr>
          <a:xfrm>
            <a:off x="9926195" y="3773000"/>
            <a:ext cx="654213" cy="448433"/>
          </a:xfrm>
          <a:custGeom>
            <a:avLst/>
            <a:gdLst/>
            <a:ahLst/>
            <a:cxnLst/>
            <a:rect l="l" t="t" r="r" b="b"/>
            <a:pathLst>
              <a:path w="654213" h="448433">
                <a:moveTo>
                  <a:pt x="0" y="0"/>
                </a:moveTo>
                <a:lnTo>
                  <a:pt x="654213" y="0"/>
                </a:lnTo>
                <a:lnTo>
                  <a:pt x="654213" y="448433"/>
                </a:lnTo>
                <a:lnTo>
                  <a:pt x="0" y="44843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12283364" y="3641732"/>
            <a:ext cx="468703" cy="638415"/>
          </a:xfrm>
          <a:custGeom>
            <a:avLst/>
            <a:gdLst/>
            <a:ahLst/>
            <a:cxnLst/>
            <a:rect l="l" t="t" r="r" b="b"/>
            <a:pathLst>
              <a:path w="468703" h="638415">
                <a:moveTo>
                  <a:pt x="0" y="0"/>
                </a:moveTo>
                <a:lnTo>
                  <a:pt x="468703" y="0"/>
                </a:lnTo>
                <a:lnTo>
                  <a:pt x="468703" y="638415"/>
                </a:lnTo>
                <a:lnTo>
                  <a:pt x="0" y="6384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99" name="TextBox 99"/>
          <p:cNvSpPr txBox="1"/>
          <p:nvPr/>
        </p:nvSpPr>
        <p:spPr>
          <a:xfrm>
            <a:off x="3712371" y="1028700"/>
            <a:ext cx="10863257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80"/>
              </a:lnSpc>
              <a:spcBef>
                <a:spcPct val="0"/>
              </a:spcBef>
            </a:pPr>
            <a:r>
              <a:rPr lang="en-US" sz="7400" b="1">
                <a:solidFill>
                  <a:srgbClr val="88202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Sommaire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6572796" y="8735830"/>
            <a:ext cx="256381" cy="828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1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9308324" y="6147342"/>
            <a:ext cx="1895665" cy="26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Réalisation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62086" y="6147342"/>
            <a:ext cx="1895665" cy="52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Contexte et problématique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3202713" y="5613700"/>
            <a:ext cx="537530" cy="2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02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504936" y="6147342"/>
            <a:ext cx="2081140" cy="26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Solution proposée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828833" y="6147342"/>
            <a:ext cx="1895665" cy="26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État de l’arts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033056" y="6147342"/>
            <a:ext cx="1895665" cy="26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Conception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1583315" y="6147342"/>
            <a:ext cx="1895665" cy="78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Tests &amp; Résultats - Métriques + Performances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464272" y="5613700"/>
            <a:ext cx="537530" cy="2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03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725832" y="5613700"/>
            <a:ext cx="537530" cy="2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04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9987391" y="5613700"/>
            <a:ext cx="537530" cy="2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05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2248951" y="5613700"/>
            <a:ext cx="537530" cy="2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06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3832988" y="6147342"/>
            <a:ext cx="1895665" cy="52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Répartition des tâches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4498625" y="5613700"/>
            <a:ext cx="537530" cy="2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07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6130249" y="6147342"/>
            <a:ext cx="1895665" cy="52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Limites et conclusion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795885" y="5613700"/>
            <a:ext cx="537530" cy="250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694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1728" y="2197719"/>
            <a:ext cx="10289698" cy="663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Le BTP : 17% des accidents mortels dans le monde pour seulement 7% de la main-d'œuvre (OIT)</a:t>
            </a:r>
          </a:p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Non-port des PPE : principale cause d'accidents sur les chantiers</a:t>
            </a:r>
          </a:p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Limites des inspections humaines : coûteuses, non exhaustives, sujettes à la fatigue</a:t>
            </a:r>
          </a:p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Besoin d'une solution automatisée, scalable et robuste</a:t>
            </a:r>
          </a:p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Question centrale : comment détecter en temps réel le non-port des PPE ?</a:t>
            </a:r>
          </a:p>
          <a:p>
            <a:pPr algn="just">
              <a:lnSpc>
                <a:spcPts val="4351"/>
              </a:lnSpc>
              <a:spcBef>
                <a:spcPct val="0"/>
              </a:spcBef>
            </a:pPr>
            <a:endParaRPr lang="en-US" sz="3626">
              <a:solidFill>
                <a:srgbClr val="000000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01202" y="485775"/>
            <a:ext cx="16230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12"/>
              </a:lnSpc>
            </a:pPr>
            <a:r>
              <a:rPr lang="en-US" sz="70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Contexte et problématique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94548" y="9059611"/>
            <a:ext cx="8116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325863" y="2181863"/>
            <a:ext cx="6243323" cy="2768603"/>
            <a:chOff x="0" y="0"/>
            <a:chExt cx="8324431" cy="36914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8290560" cy="3657600"/>
            </a:xfrm>
            <a:custGeom>
              <a:avLst/>
              <a:gdLst/>
              <a:ahLst/>
              <a:cxnLst/>
              <a:rect l="l" t="t" r="r" b="b"/>
              <a:pathLst>
                <a:path w="8290560" h="3657600">
                  <a:moveTo>
                    <a:pt x="0" y="0"/>
                  </a:moveTo>
                  <a:lnTo>
                    <a:pt x="8290560" y="0"/>
                  </a:lnTo>
                  <a:lnTo>
                    <a:pt x="82905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8324342" cy="3691382"/>
            </a:xfrm>
            <a:custGeom>
              <a:avLst/>
              <a:gdLst/>
              <a:ahLst/>
              <a:cxnLst/>
              <a:rect l="l" t="t" r="r" b="b"/>
              <a:pathLst>
                <a:path w="8324342" h="369138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3674491"/>
                  </a:lnTo>
                  <a:cubicBezTo>
                    <a:pt x="8324342" y="3683889"/>
                    <a:pt x="8316722" y="3691382"/>
                    <a:pt x="830745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8307451" y="3657600"/>
                  </a:lnTo>
                  <a:lnTo>
                    <a:pt x="8307451" y="3674491"/>
                  </a:lnTo>
                  <a:lnTo>
                    <a:pt x="8290560" y="367449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338560" y="2194560"/>
            <a:ext cx="6217920" cy="1728788"/>
            <a:chOff x="0" y="0"/>
            <a:chExt cx="8290560" cy="2305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90560" cy="2305050"/>
            </a:xfrm>
            <a:custGeom>
              <a:avLst/>
              <a:gdLst/>
              <a:ahLst/>
              <a:cxnLst/>
              <a:rect l="l" t="t" r="r" b="b"/>
              <a:pathLst>
                <a:path w="8290560" h="2305050">
                  <a:moveTo>
                    <a:pt x="0" y="0"/>
                  </a:moveTo>
                  <a:lnTo>
                    <a:pt x="8290560" y="0"/>
                  </a:lnTo>
                  <a:lnTo>
                    <a:pt x="8290560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478" b="-1768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8290560" cy="2305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519"/>
                </a:lnSpc>
              </a:pPr>
              <a:r>
                <a:rPr lang="en-US" sz="9600" b="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17%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338560" y="3840480"/>
            <a:ext cx="6217920" cy="1097280"/>
            <a:chOff x="0" y="0"/>
            <a:chExt cx="829056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90560" cy="1463040"/>
            </a:xfrm>
            <a:custGeom>
              <a:avLst/>
              <a:gdLst/>
              <a:ahLst/>
              <a:cxnLst/>
              <a:rect l="l" t="t" r="r" b="b"/>
              <a:pathLst>
                <a:path w="8290560" h="146304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415" b="-6041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82905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CCCC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des accidents mortels mondiaux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CCCC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(BTP — OIT)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325863" y="5473703"/>
            <a:ext cx="6243323" cy="2402843"/>
            <a:chOff x="0" y="0"/>
            <a:chExt cx="8324431" cy="320379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8290560" cy="3169920"/>
            </a:xfrm>
            <a:custGeom>
              <a:avLst/>
              <a:gdLst/>
              <a:ahLst/>
              <a:cxnLst/>
              <a:rect l="l" t="t" r="r" b="b"/>
              <a:pathLst>
                <a:path w="8290560" h="3169920">
                  <a:moveTo>
                    <a:pt x="0" y="0"/>
                  </a:moveTo>
                  <a:lnTo>
                    <a:pt x="8290560" y="0"/>
                  </a:lnTo>
                  <a:lnTo>
                    <a:pt x="82905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324342" cy="3203702"/>
            </a:xfrm>
            <a:custGeom>
              <a:avLst/>
              <a:gdLst/>
              <a:ahLst/>
              <a:cxnLst/>
              <a:rect l="l" t="t" r="r" b="b"/>
              <a:pathLst>
                <a:path w="8324342" h="320370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3186811"/>
                  </a:lnTo>
                  <a:cubicBezTo>
                    <a:pt x="8324342" y="3196209"/>
                    <a:pt x="8316722" y="3203702"/>
                    <a:pt x="83074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8307451" y="3169920"/>
                  </a:lnTo>
                  <a:lnTo>
                    <a:pt x="8307451" y="3186811"/>
                  </a:lnTo>
                  <a:lnTo>
                    <a:pt x="8290560" y="318681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338560" y="5486400"/>
            <a:ext cx="6217920" cy="1513880"/>
            <a:chOff x="0" y="0"/>
            <a:chExt cx="8290560" cy="20185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90560" cy="2018506"/>
            </a:xfrm>
            <a:custGeom>
              <a:avLst/>
              <a:gdLst/>
              <a:ahLst/>
              <a:cxnLst/>
              <a:rect l="l" t="t" r="r" b="b"/>
              <a:pathLst>
                <a:path w="8290560" h="2018506">
                  <a:moveTo>
                    <a:pt x="0" y="0"/>
                  </a:moveTo>
                  <a:lnTo>
                    <a:pt x="8290560" y="0"/>
                  </a:lnTo>
                  <a:lnTo>
                    <a:pt x="8290560" y="2018506"/>
                  </a:lnTo>
                  <a:lnTo>
                    <a:pt x="0" y="20185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09" b="-2835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8290560" cy="201850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0080"/>
                </a:lnSpc>
              </a:pPr>
              <a:r>
                <a:rPr lang="en-US" sz="8400" b="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7%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338560" y="6949440"/>
            <a:ext cx="6217920" cy="914400"/>
            <a:chOff x="0" y="0"/>
            <a:chExt cx="829056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90560" cy="1219200"/>
            </a:xfrm>
            <a:custGeom>
              <a:avLst/>
              <a:gdLst/>
              <a:ahLst/>
              <a:cxnLst/>
              <a:rect l="l" t="t" r="r" b="b"/>
              <a:pathLst>
                <a:path w="8290560" h="1219200">
                  <a:moveTo>
                    <a:pt x="0" y="0"/>
                  </a:moveTo>
                  <a:lnTo>
                    <a:pt x="8290560" y="0"/>
                  </a:lnTo>
                  <a:lnTo>
                    <a:pt x="8290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29056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FFCC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de la main-d'œuvre mondiale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78263" y="2334263"/>
            <a:ext cx="6243323" cy="2768603"/>
            <a:chOff x="0" y="0"/>
            <a:chExt cx="8324431" cy="369147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8290560" cy="3657600"/>
            </a:xfrm>
            <a:custGeom>
              <a:avLst/>
              <a:gdLst/>
              <a:ahLst/>
              <a:cxnLst/>
              <a:rect l="l" t="t" r="r" b="b"/>
              <a:pathLst>
                <a:path w="8290560" h="3657600">
                  <a:moveTo>
                    <a:pt x="0" y="0"/>
                  </a:moveTo>
                  <a:lnTo>
                    <a:pt x="8290560" y="0"/>
                  </a:lnTo>
                  <a:lnTo>
                    <a:pt x="829056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8324342" cy="3691382"/>
            </a:xfrm>
            <a:custGeom>
              <a:avLst/>
              <a:gdLst/>
              <a:ahLst/>
              <a:cxnLst/>
              <a:rect l="l" t="t" r="r" b="b"/>
              <a:pathLst>
                <a:path w="8324342" h="369138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3674491"/>
                  </a:lnTo>
                  <a:cubicBezTo>
                    <a:pt x="8324342" y="3683889"/>
                    <a:pt x="8316722" y="3691382"/>
                    <a:pt x="830745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8307451" y="3657600"/>
                  </a:lnTo>
                  <a:lnTo>
                    <a:pt x="8307451" y="3674491"/>
                  </a:lnTo>
                  <a:lnTo>
                    <a:pt x="8290560" y="367449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1490960" y="2346960"/>
            <a:ext cx="6217920" cy="1728788"/>
            <a:chOff x="0" y="0"/>
            <a:chExt cx="8290560" cy="2305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290560" cy="2305050"/>
            </a:xfrm>
            <a:custGeom>
              <a:avLst/>
              <a:gdLst/>
              <a:ahLst/>
              <a:cxnLst/>
              <a:rect l="l" t="t" r="r" b="b"/>
              <a:pathLst>
                <a:path w="8290560" h="2305050">
                  <a:moveTo>
                    <a:pt x="0" y="0"/>
                  </a:moveTo>
                  <a:lnTo>
                    <a:pt x="8290560" y="0"/>
                  </a:lnTo>
                  <a:lnTo>
                    <a:pt x="8290560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478" b="-1768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8290560" cy="230505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519"/>
                </a:lnSpc>
              </a:pPr>
              <a:r>
                <a:rPr lang="en-US" sz="9600" b="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17%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90960" y="3992880"/>
            <a:ext cx="6217920" cy="1097280"/>
            <a:chOff x="0" y="0"/>
            <a:chExt cx="829056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90560" cy="1463040"/>
            </a:xfrm>
            <a:custGeom>
              <a:avLst/>
              <a:gdLst/>
              <a:ahLst/>
              <a:cxnLst/>
              <a:rect l="l" t="t" r="r" b="b"/>
              <a:pathLst>
                <a:path w="8290560" h="146304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415" b="-6041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82905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CCCC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des accidents mortels mondiaux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CCCC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(BTP — OIT)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478263" y="5626103"/>
            <a:ext cx="6243323" cy="2402843"/>
            <a:chOff x="0" y="0"/>
            <a:chExt cx="8324431" cy="3203791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8290560" cy="3169920"/>
            </a:xfrm>
            <a:custGeom>
              <a:avLst/>
              <a:gdLst/>
              <a:ahLst/>
              <a:cxnLst/>
              <a:rect l="l" t="t" r="r" b="b"/>
              <a:pathLst>
                <a:path w="8290560" h="3169920">
                  <a:moveTo>
                    <a:pt x="0" y="0"/>
                  </a:moveTo>
                  <a:lnTo>
                    <a:pt x="8290560" y="0"/>
                  </a:lnTo>
                  <a:lnTo>
                    <a:pt x="82905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2C5F2D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8324342" cy="3203702"/>
            </a:xfrm>
            <a:custGeom>
              <a:avLst/>
              <a:gdLst/>
              <a:ahLst/>
              <a:cxnLst/>
              <a:rect l="l" t="t" r="r" b="b"/>
              <a:pathLst>
                <a:path w="8324342" h="320370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3186811"/>
                  </a:lnTo>
                  <a:cubicBezTo>
                    <a:pt x="8324342" y="3196209"/>
                    <a:pt x="8316722" y="3203702"/>
                    <a:pt x="83074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8307451" y="3169920"/>
                  </a:lnTo>
                  <a:lnTo>
                    <a:pt x="8307451" y="3186811"/>
                  </a:lnTo>
                  <a:lnTo>
                    <a:pt x="8290560" y="3186811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C5F2D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1490960" y="5638800"/>
            <a:ext cx="6217920" cy="1513880"/>
            <a:chOff x="0" y="0"/>
            <a:chExt cx="8290560" cy="201850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90560" cy="2018506"/>
            </a:xfrm>
            <a:custGeom>
              <a:avLst/>
              <a:gdLst/>
              <a:ahLst/>
              <a:cxnLst/>
              <a:rect l="l" t="t" r="r" b="b"/>
              <a:pathLst>
                <a:path w="8290560" h="2018506">
                  <a:moveTo>
                    <a:pt x="0" y="0"/>
                  </a:moveTo>
                  <a:lnTo>
                    <a:pt x="8290560" y="0"/>
                  </a:lnTo>
                  <a:lnTo>
                    <a:pt x="8290560" y="2018506"/>
                  </a:lnTo>
                  <a:lnTo>
                    <a:pt x="0" y="20185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09" b="-2835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8290560" cy="201850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0080"/>
                </a:lnSpc>
              </a:pPr>
              <a:r>
                <a:rPr lang="en-US" sz="8400" b="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7%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490960" y="7101840"/>
            <a:ext cx="6217920" cy="914400"/>
            <a:chOff x="0" y="0"/>
            <a:chExt cx="829056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290560" cy="1219200"/>
            </a:xfrm>
            <a:custGeom>
              <a:avLst/>
              <a:gdLst/>
              <a:ahLst/>
              <a:cxnLst/>
              <a:rect l="l" t="t" r="r" b="b"/>
              <a:pathLst>
                <a:path w="8290560" h="1219200">
                  <a:moveTo>
                    <a:pt x="0" y="0"/>
                  </a:moveTo>
                  <a:lnTo>
                    <a:pt x="8290560" y="0"/>
                  </a:lnTo>
                  <a:lnTo>
                    <a:pt x="82905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498" b="-8249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829056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FFCC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de la main-d'œuvre mondiale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1202" y="485775"/>
            <a:ext cx="16230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12"/>
              </a:lnSpc>
            </a:pPr>
            <a:r>
              <a:rPr lang="en-US" sz="70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Solution proposée : DetectAI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190720" y="9153525"/>
            <a:ext cx="8116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18823" y="1998983"/>
            <a:ext cx="7889243" cy="3500123"/>
            <a:chOff x="0" y="0"/>
            <a:chExt cx="10518991" cy="4666831"/>
          </a:xfrm>
        </p:grpSpPr>
        <p:sp>
          <p:nvSpPr>
            <p:cNvPr id="5" name="Freeform 5"/>
            <p:cNvSpPr/>
            <p:nvPr/>
          </p:nvSpPr>
          <p:spPr>
            <a:xfrm>
              <a:off x="16891" y="16891"/>
              <a:ext cx="10485120" cy="4632960"/>
            </a:xfrm>
            <a:custGeom>
              <a:avLst/>
              <a:gdLst/>
              <a:ahLst/>
              <a:cxnLst/>
              <a:rect l="l" t="t" r="r" b="b"/>
              <a:pathLst>
                <a:path w="10485120" h="4632960">
                  <a:moveTo>
                    <a:pt x="0" y="0"/>
                  </a:moveTo>
                  <a:lnTo>
                    <a:pt x="10485120" y="0"/>
                  </a:lnTo>
                  <a:lnTo>
                    <a:pt x="10485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10518901" cy="4666742"/>
            </a:xfrm>
            <a:custGeom>
              <a:avLst/>
              <a:gdLst/>
              <a:ahLst/>
              <a:cxnLst/>
              <a:rect l="l" t="t" r="r" b="b"/>
              <a:pathLst>
                <a:path w="10518901" h="4666742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4649851"/>
                  </a:lnTo>
                  <a:cubicBezTo>
                    <a:pt x="10518901" y="4659249"/>
                    <a:pt x="10511282" y="4666742"/>
                    <a:pt x="10502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0502011" y="4632960"/>
                  </a:lnTo>
                  <a:lnTo>
                    <a:pt x="10502011" y="4649851"/>
                  </a:lnTo>
                  <a:lnTo>
                    <a:pt x="10485120" y="464985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18823" y="1998983"/>
            <a:ext cx="153419" cy="3500123"/>
            <a:chOff x="0" y="0"/>
            <a:chExt cx="204559" cy="4666831"/>
          </a:xfrm>
        </p:grpSpPr>
        <p:sp>
          <p:nvSpPr>
            <p:cNvPr id="8" name="Freeform 8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97280" y="2286000"/>
            <a:ext cx="7315200" cy="822960"/>
            <a:chOff x="0" y="0"/>
            <a:chExt cx="9753600" cy="1097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53600" cy="1097280"/>
            </a:xfrm>
            <a:custGeom>
              <a:avLst/>
              <a:gdLst/>
              <a:ahLst/>
              <a:cxnLst/>
              <a:rect l="l" t="t" r="r" b="b"/>
              <a:pathLst>
                <a:path w="9753600" h="109728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B1A1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Modèle IA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7280" y="3108960"/>
            <a:ext cx="7315200" cy="2011680"/>
            <a:chOff x="0" y="0"/>
            <a:chExt cx="9753600" cy="26822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753600" cy="2682240"/>
            </a:xfrm>
            <a:custGeom>
              <a:avLst/>
              <a:gdLst/>
              <a:ahLst/>
              <a:cxnLst/>
              <a:rect l="l" t="t" r="r" b="b"/>
              <a:pathLst>
                <a:path w="9753600" h="268224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9753600" cy="2682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dirty="0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YOLOv8 fine-</a:t>
              </a:r>
              <a:r>
                <a:rPr lang="en-US" sz="2400" dirty="0" err="1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tuné</a:t>
              </a:r>
              <a:endParaRPr lang="en-US" sz="2400" dirty="0">
                <a:solidFill>
                  <a:srgbClr val="4A4A4A"/>
                </a:solidFill>
                <a:latin typeface="Georgia Pro"/>
                <a:ea typeface="Georgia Pro"/>
                <a:cs typeface="Georgia Pro"/>
                <a:sym typeface="Georgia Pro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 dirty="0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sur 44 000+ images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97063" y="1998983"/>
            <a:ext cx="7889243" cy="3500123"/>
            <a:chOff x="0" y="0"/>
            <a:chExt cx="10518991" cy="4666831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10485120" cy="4632960"/>
            </a:xfrm>
            <a:custGeom>
              <a:avLst/>
              <a:gdLst/>
              <a:ahLst/>
              <a:cxnLst/>
              <a:rect l="l" t="t" r="r" b="b"/>
              <a:pathLst>
                <a:path w="10485120" h="4632960">
                  <a:moveTo>
                    <a:pt x="0" y="0"/>
                  </a:moveTo>
                  <a:lnTo>
                    <a:pt x="10485120" y="0"/>
                  </a:lnTo>
                  <a:lnTo>
                    <a:pt x="10485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0518901" cy="4666742"/>
            </a:xfrm>
            <a:custGeom>
              <a:avLst/>
              <a:gdLst/>
              <a:ahLst/>
              <a:cxnLst/>
              <a:rect l="l" t="t" r="r" b="b"/>
              <a:pathLst>
                <a:path w="10518901" h="4666742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4649851"/>
                  </a:lnTo>
                  <a:cubicBezTo>
                    <a:pt x="10518901" y="4659249"/>
                    <a:pt x="10511282" y="4666742"/>
                    <a:pt x="10502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0502011" y="4632960"/>
                  </a:lnTo>
                  <a:lnTo>
                    <a:pt x="10502011" y="4649851"/>
                  </a:lnTo>
                  <a:lnTo>
                    <a:pt x="10485120" y="464985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497063" y="1998983"/>
            <a:ext cx="153419" cy="3500123"/>
            <a:chOff x="0" y="0"/>
            <a:chExt cx="204559" cy="4666831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679348" y="2286000"/>
            <a:ext cx="7315200" cy="822960"/>
            <a:chOff x="0" y="0"/>
            <a:chExt cx="975360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53600" cy="1097280"/>
            </a:xfrm>
            <a:custGeom>
              <a:avLst/>
              <a:gdLst/>
              <a:ahLst/>
              <a:cxnLst/>
              <a:rect l="l" t="t" r="r" b="b"/>
              <a:pathLst>
                <a:path w="9753600" h="109728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B1A1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 7 Classes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875520" y="3108960"/>
            <a:ext cx="7315200" cy="2011680"/>
            <a:chOff x="0" y="0"/>
            <a:chExt cx="9753600" cy="26822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53600" cy="2682240"/>
            </a:xfrm>
            <a:custGeom>
              <a:avLst/>
              <a:gdLst/>
              <a:ahLst/>
              <a:cxnLst/>
              <a:rect l="l" t="t" r="r" b="b"/>
              <a:pathLst>
                <a:path w="9753600" h="268224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753600" cy="2682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Hardhat, Vest, Gloves, Boots,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Person, NO-Hardhat, NO-Vest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18823" y="5930903"/>
            <a:ext cx="7889243" cy="3500123"/>
            <a:chOff x="0" y="0"/>
            <a:chExt cx="10518991" cy="466683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10485120" cy="4632960"/>
            </a:xfrm>
            <a:custGeom>
              <a:avLst/>
              <a:gdLst/>
              <a:ahLst/>
              <a:cxnLst/>
              <a:rect l="l" t="t" r="r" b="b"/>
              <a:pathLst>
                <a:path w="10485120" h="4632960">
                  <a:moveTo>
                    <a:pt x="0" y="0"/>
                  </a:moveTo>
                  <a:lnTo>
                    <a:pt x="10485120" y="0"/>
                  </a:lnTo>
                  <a:lnTo>
                    <a:pt x="10485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0518901" cy="4666742"/>
            </a:xfrm>
            <a:custGeom>
              <a:avLst/>
              <a:gdLst/>
              <a:ahLst/>
              <a:cxnLst/>
              <a:rect l="l" t="t" r="r" b="b"/>
              <a:pathLst>
                <a:path w="10518901" h="4666742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4649851"/>
                  </a:lnTo>
                  <a:cubicBezTo>
                    <a:pt x="10518901" y="4659249"/>
                    <a:pt x="10511282" y="4666742"/>
                    <a:pt x="10502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0502011" y="4632960"/>
                  </a:lnTo>
                  <a:lnTo>
                    <a:pt x="10502011" y="4649851"/>
                  </a:lnTo>
                  <a:lnTo>
                    <a:pt x="10485120" y="464985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18823" y="5930903"/>
            <a:ext cx="153419" cy="3500123"/>
            <a:chOff x="0" y="0"/>
            <a:chExt cx="204559" cy="4666831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097280" y="6217920"/>
            <a:ext cx="7315200" cy="822960"/>
            <a:chOff x="0" y="0"/>
            <a:chExt cx="9753600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753600" cy="1097280"/>
            </a:xfrm>
            <a:custGeom>
              <a:avLst/>
              <a:gdLst/>
              <a:ahLst/>
              <a:cxnLst/>
              <a:rect l="l" t="t" r="r" b="b"/>
              <a:pathLst>
                <a:path w="9753600" h="109728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B1A1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Interface Web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97280" y="7040880"/>
            <a:ext cx="7315200" cy="2011680"/>
            <a:chOff x="0" y="0"/>
            <a:chExt cx="9753600" cy="26822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753600" cy="2682240"/>
            </a:xfrm>
            <a:custGeom>
              <a:avLst/>
              <a:gdLst/>
              <a:ahLst/>
              <a:cxnLst/>
              <a:rect l="l" t="t" r="r" b="b"/>
              <a:pathLst>
                <a:path w="9753600" h="268224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9753600" cy="2682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Accessible à tout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opérateur de sécurité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497063" y="5930903"/>
            <a:ext cx="7889243" cy="3500123"/>
            <a:chOff x="0" y="0"/>
            <a:chExt cx="10518991" cy="4666831"/>
          </a:xfrm>
        </p:grpSpPr>
        <p:sp>
          <p:nvSpPr>
            <p:cNvPr id="41" name="Freeform 41"/>
            <p:cNvSpPr/>
            <p:nvPr/>
          </p:nvSpPr>
          <p:spPr>
            <a:xfrm>
              <a:off x="16891" y="16891"/>
              <a:ext cx="10485120" cy="4632960"/>
            </a:xfrm>
            <a:custGeom>
              <a:avLst/>
              <a:gdLst/>
              <a:ahLst/>
              <a:cxnLst/>
              <a:rect l="l" t="t" r="r" b="b"/>
              <a:pathLst>
                <a:path w="10485120" h="4632960">
                  <a:moveTo>
                    <a:pt x="0" y="0"/>
                  </a:moveTo>
                  <a:lnTo>
                    <a:pt x="10485120" y="0"/>
                  </a:lnTo>
                  <a:lnTo>
                    <a:pt x="10485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10518901" cy="4666742"/>
            </a:xfrm>
            <a:custGeom>
              <a:avLst/>
              <a:gdLst/>
              <a:ahLst/>
              <a:cxnLst/>
              <a:rect l="l" t="t" r="r" b="b"/>
              <a:pathLst>
                <a:path w="10518901" h="4666742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4649851"/>
                  </a:lnTo>
                  <a:cubicBezTo>
                    <a:pt x="10518901" y="4659249"/>
                    <a:pt x="10511282" y="4666742"/>
                    <a:pt x="10502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0502011" y="4632960"/>
                  </a:lnTo>
                  <a:lnTo>
                    <a:pt x="10502011" y="4649851"/>
                  </a:lnTo>
                  <a:lnTo>
                    <a:pt x="10485120" y="464985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9497063" y="5930903"/>
            <a:ext cx="153419" cy="3500123"/>
            <a:chOff x="0" y="0"/>
            <a:chExt cx="204559" cy="4666831"/>
          </a:xfrm>
        </p:grpSpPr>
        <p:sp>
          <p:nvSpPr>
            <p:cNvPr id="44" name="Freeform 44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9875520" y="6217920"/>
            <a:ext cx="7315200" cy="822960"/>
            <a:chOff x="0" y="0"/>
            <a:chExt cx="975360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753600" cy="1097280"/>
            </a:xfrm>
            <a:custGeom>
              <a:avLst/>
              <a:gdLst/>
              <a:ahLst/>
              <a:cxnLst/>
              <a:rect l="l" t="t" r="r" b="b"/>
              <a:pathLst>
                <a:path w="9753600" h="109728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B1A1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3 Modes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875520" y="7040880"/>
            <a:ext cx="7315200" cy="2011680"/>
            <a:chOff x="0" y="0"/>
            <a:chExt cx="9753600" cy="26822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753600" cy="2682240"/>
            </a:xfrm>
            <a:custGeom>
              <a:avLst/>
              <a:gdLst/>
              <a:ahLst/>
              <a:cxnLst/>
              <a:rect l="l" t="t" r="r" b="b"/>
              <a:pathLst>
                <a:path w="9753600" h="268224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9753600" cy="2682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Image statique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A4A4A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Vidéo • Webcam temps réel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771510" y="2174185"/>
          <a:ext cx="13689984" cy="6468456"/>
        </p:xfrm>
        <a:graphic>
          <a:graphicData uri="http://schemas.openxmlformats.org/drawingml/2006/table">
            <a:tbl>
              <a:tblPr/>
              <a:tblGrid>
                <a:gridCol w="4563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3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3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7114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YOLOv1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2015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Approche one-stage originale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7114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YOLOv3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2018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Multi-scale, Darknet-53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7114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YOLOv5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2020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PyTorch, architecture optimisée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7114"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YOLOv7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2022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E-ELAN, SOTA sur COCO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501202" y="485775"/>
            <a:ext cx="16230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12"/>
              </a:lnSpc>
            </a:pPr>
            <a:r>
              <a:rPr lang="en-US" sz="70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État de l’arts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90720" y="9153525"/>
            <a:ext cx="8116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302303"/>
            <a:ext cx="16230600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72"/>
              </a:lnSpc>
            </a:pPr>
            <a:r>
              <a:rPr lang="en-US" sz="78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Conception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8823" y="1998983"/>
            <a:ext cx="8159550" cy="2422282"/>
            <a:chOff x="0" y="0"/>
            <a:chExt cx="15720401" cy="4666831"/>
          </a:xfrm>
        </p:grpSpPr>
        <p:sp>
          <p:nvSpPr>
            <p:cNvPr id="3" name="Freeform 3"/>
            <p:cNvSpPr/>
            <p:nvPr/>
          </p:nvSpPr>
          <p:spPr>
            <a:xfrm>
              <a:off x="25243" y="16891"/>
              <a:ext cx="15669782" cy="4632960"/>
            </a:xfrm>
            <a:custGeom>
              <a:avLst/>
              <a:gdLst/>
              <a:ahLst/>
              <a:cxnLst/>
              <a:rect l="l" t="t" r="r" b="b"/>
              <a:pathLst>
                <a:path w="15669782" h="4632960">
                  <a:moveTo>
                    <a:pt x="0" y="0"/>
                  </a:moveTo>
                  <a:lnTo>
                    <a:pt x="15669782" y="0"/>
                  </a:lnTo>
                  <a:lnTo>
                    <a:pt x="1566978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15720267" cy="4666742"/>
            </a:xfrm>
            <a:custGeom>
              <a:avLst/>
              <a:gdLst/>
              <a:ahLst/>
              <a:cxnLst/>
              <a:rect l="l" t="t" r="r" b="b"/>
              <a:pathLst>
                <a:path w="15720267" h="4666742">
                  <a:moveTo>
                    <a:pt x="25243" y="0"/>
                  </a:moveTo>
                  <a:lnTo>
                    <a:pt x="15695025" y="0"/>
                  </a:lnTo>
                  <a:cubicBezTo>
                    <a:pt x="15709069" y="0"/>
                    <a:pt x="15720267" y="7620"/>
                    <a:pt x="15720267" y="16891"/>
                  </a:cubicBezTo>
                  <a:lnTo>
                    <a:pt x="15720267" y="4649851"/>
                  </a:lnTo>
                  <a:cubicBezTo>
                    <a:pt x="15720267" y="4659249"/>
                    <a:pt x="15708880" y="4666742"/>
                    <a:pt x="15695025" y="4666742"/>
                  </a:cubicBezTo>
                  <a:lnTo>
                    <a:pt x="25243" y="4666742"/>
                  </a:lnTo>
                  <a:cubicBezTo>
                    <a:pt x="11198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11388" y="0"/>
                    <a:pt x="25243" y="0"/>
                  </a:cubicBezTo>
                  <a:moveTo>
                    <a:pt x="25243" y="33909"/>
                  </a:moveTo>
                  <a:lnTo>
                    <a:pt x="25243" y="16891"/>
                  </a:lnTo>
                  <a:lnTo>
                    <a:pt x="50676" y="16891"/>
                  </a:lnTo>
                  <a:lnTo>
                    <a:pt x="50676" y="4649851"/>
                  </a:lnTo>
                  <a:lnTo>
                    <a:pt x="25243" y="4649851"/>
                  </a:lnTo>
                  <a:lnTo>
                    <a:pt x="25243" y="4632960"/>
                  </a:lnTo>
                  <a:lnTo>
                    <a:pt x="15695025" y="4632960"/>
                  </a:lnTo>
                  <a:lnTo>
                    <a:pt x="15695025" y="4649851"/>
                  </a:lnTo>
                  <a:lnTo>
                    <a:pt x="15669782" y="4649851"/>
                  </a:lnTo>
                  <a:lnTo>
                    <a:pt x="15669782" y="16891"/>
                  </a:lnTo>
                  <a:lnTo>
                    <a:pt x="15695025" y="16891"/>
                  </a:lnTo>
                  <a:lnTo>
                    <a:pt x="15695025" y="33909"/>
                  </a:lnTo>
                  <a:lnTo>
                    <a:pt x="25243" y="33909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18823" y="1998983"/>
            <a:ext cx="106175" cy="2422282"/>
            <a:chOff x="0" y="0"/>
            <a:chExt cx="204559" cy="466683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80737" y="2197615"/>
            <a:ext cx="5062529" cy="569535"/>
            <a:chOff x="0" y="0"/>
            <a:chExt cx="9753600" cy="1097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53600" cy="1097280"/>
            </a:xfrm>
            <a:custGeom>
              <a:avLst/>
              <a:gdLst/>
              <a:ahLst/>
              <a:cxnLst/>
              <a:rect l="l" t="t" r="r" b="b"/>
              <a:pathLst>
                <a:path w="9753600" h="109728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B1A1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Backend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498868" y="2949496"/>
            <a:ext cx="1021134" cy="1021134"/>
          </a:xfrm>
          <a:custGeom>
            <a:avLst/>
            <a:gdLst/>
            <a:ahLst/>
            <a:cxnLst/>
            <a:rect l="l" t="t" r="r" b="b"/>
            <a:pathLst>
              <a:path w="1021134" h="1021134">
                <a:moveTo>
                  <a:pt x="0" y="0"/>
                </a:moveTo>
                <a:lnTo>
                  <a:pt x="1021135" y="0"/>
                </a:lnTo>
                <a:lnTo>
                  <a:pt x="1021135" y="1021135"/>
                </a:lnTo>
                <a:lnTo>
                  <a:pt x="0" y="1021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225470" y="2850833"/>
            <a:ext cx="1119797" cy="1119797"/>
          </a:xfrm>
          <a:custGeom>
            <a:avLst/>
            <a:gdLst/>
            <a:ahLst/>
            <a:cxnLst/>
            <a:rect l="l" t="t" r="r" b="b"/>
            <a:pathLst>
              <a:path w="1119797" h="1119797">
                <a:moveTo>
                  <a:pt x="0" y="0"/>
                </a:moveTo>
                <a:lnTo>
                  <a:pt x="1119797" y="0"/>
                </a:lnTo>
                <a:lnTo>
                  <a:pt x="1119797" y="1119798"/>
                </a:lnTo>
                <a:lnTo>
                  <a:pt x="0" y="111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18823" y="5143500"/>
            <a:ext cx="8159550" cy="2422282"/>
            <a:chOff x="0" y="0"/>
            <a:chExt cx="15720401" cy="4666831"/>
          </a:xfrm>
        </p:grpSpPr>
        <p:sp>
          <p:nvSpPr>
            <p:cNvPr id="14" name="Freeform 14"/>
            <p:cNvSpPr/>
            <p:nvPr/>
          </p:nvSpPr>
          <p:spPr>
            <a:xfrm>
              <a:off x="25243" y="16891"/>
              <a:ext cx="15669782" cy="4632960"/>
            </a:xfrm>
            <a:custGeom>
              <a:avLst/>
              <a:gdLst/>
              <a:ahLst/>
              <a:cxnLst/>
              <a:rect l="l" t="t" r="r" b="b"/>
              <a:pathLst>
                <a:path w="15669782" h="4632960">
                  <a:moveTo>
                    <a:pt x="0" y="0"/>
                  </a:moveTo>
                  <a:lnTo>
                    <a:pt x="15669782" y="0"/>
                  </a:lnTo>
                  <a:lnTo>
                    <a:pt x="1566978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5720267" cy="4666742"/>
            </a:xfrm>
            <a:custGeom>
              <a:avLst/>
              <a:gdLst/>
              <a:ahLst/>
              <a:cxnLst/>
              <a:rect l="l" t="t" r="r" b="b"/>
              <a:pathLst>
                <a:path w="15720267" h="4666742">
                  <a:moveTo>
                    <a:pt x="25243" y="0"/>
                  </a:moveTo>
                  <a:lnTo>
                    <a:pt x="15695025" y="0"/>
                  </a:lnTo>
                  <a:cubicBezTo>
                    <a:pt x="15709069" y="0"/>
                    <a:pt x="15720267" y="7620"/>
                    <a:pt x="15720267" y="16891"/>
                  </a:cubicBezTo>
                  <a:lnTo>
                    <a:pt x="15720267" y="4649851"/>
                  </a:lnTo>
                  <a:cubicBezTo>
                    <a:pt x="15720267" y="4659249"/>
                    <a:pt x="15708880" y="4666742"/>
                    <a:pt x="15695025" y="4666742"/>
                  </a:cubicBezTo>
                  <a:lnTo>
                    <a:pt x="25243" y="4666742"/>
                  </a:lnTo>
                  <a:cubicBezTo>
                    <a:pt x="11198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11388" y="0"/>
                    <a:pt x="25243" y="0"/>
                  </a:cubicBezTo>
                  <a:moveTo>
                    <a:pt x="25243" y="33909"/>
                  </a:moveTo>
                  <a:lnTo>
                    <a:pt x="25243" y="16891"/>
                  </a:lnTo>
                  <a:lnTo>
                    <a:pt x="50676" y="16891"/>
                  </a:lnTo>
                  <a:lnTo>
                    <a:pt x="50676" y="4649851"/>
                  </a:lnTo>
                  <a:lnTo>
                    <a:pt x="25243" y="4649851"/>
                  </a:lnTo>
                  <a:lnTo>
                    <a:pt x="25243" y="4632960"/>
                  </a:lnTo>
                  <a:lnTo>
                    <a:pt x="15695025" y="4632960"/>
                  </a:lnTo>
                  <a:lnTo>
                    <a:pt x="15695025" y="4649851"/>
                  </a:lnTo>
                  <a:lnTo>
                    <a:pt x="15669782" y="4649851"/>
                  </a:lnTo>
                  <a:lnTo>
                    <a:pt x="15669782" y="16891"/>
                  </a:lnTo>
                  <a:lnTo>
                    <a:pt x="15695025" y="16891"/>
                  </a:lnTo>
                  <a:lnTo>
                    <a:pt x="15695025" y="33909"/>
                  </a:lnTo>
                  <a:lnTo>
                    <a:pt x="25243" y="33909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771911" y="5143500"/>
            <a:ext cx="106175" cy="2422282"/>
            <a:chOff x="0" y="0"/>
            <a:chExt cx="204559" cy="4666831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4774032" y="2878960"/>
            <a:ext cx="3193470" cy="1152723"/>
          </a:xfrm>
          <a:custGeom>
            <a:avLst/>
            <a:gdLst/>
            <a:ahLst/>
            <a:cxnLst/>
            <a:rect l="l" t="t" r="r" b="b"/>
            <a:pathLst>
              <a:path w="3193470" h="1152723">
                <a:moveTo>
                  <a:pt x="0" y="0"/>
                </a:moveTo>
                <a:lnTo>
                  <a:pt x="3193470" y="0"/>
                </a:lnTo>
                <a:lnTo>
                  <a:pt x="3193470" y="1152723"/>
                </a:lnTo>
                <a:lnTo>
                  <a:pt x="0" y="11527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80737" y="5354715"/>
            <a:ext cx="5062529" cy="569535"/>
            <a:chOff x="0" y="0"/>
            <a:chExt cx="975360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53600" cy="1097280"/>
            </a:xfrm>
            <a:custGeom>
              <a:avLst/>
              <a:gdLst/>
              <a:ahLst/>
              <a:cxnLst/>
              <a:rect l="l" t="t" r="r" b="b"/>
              <a:pathLst>
                <a:path w="9753600" h="109728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B1A1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Frontend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474203" y="6032713"/>
            <a:ext cx="781890" cy="781890"/>
          </a:xfrm>
          <a:custGeom>
            <a:avLst/>
            <a:gdLst/>
            <a:ahLst/>
            <a:cxnLst/>
            <a:rect l="l" t="t" r="r" b="b"/>
            <a:pathLst>
              <a:path w="781890" h="781890">
                <a:moveTo>
                  <a:pt x="0" y="0"/>
                </a:moveTo>
                <a:lnTo>
                  <a:pt x="781890" y="0"/>
                </a:lnTo>
                <a:lnTo>
                  <a:pt x="781890" y="781891"/>
                </a:lnTo>
                <a:lnTo>
                  <a:pt x="0" y="7818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546573" y="6045215"/>
            <a:ext cx="590096" cy="833628"/>
          </a:xfrm>
          <a:custGeom>
            <a:avLst/>
            <a:gdLst/>
            <a:ahLst/>
            <a:cxnLst/>
            <a:rect l="l" t="t" r="r" b="b"/>
            <a:pathLst>
              <a:path w="590096" h="833628">
                <a:moveTo>
                  <a:pt x="0" y="0"/>
                </a:moveTo>
                <a:lnTo>
                  <a:pt x="590096" y="0"/>
                </a:lnTo>
                <a:lnTo>
                  <a:pt x="590096" y="833628"/>
                </a:lnTo>
                <a:lnTo>
                  <a:pt x="0" y="8336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667378" y="6032713"/>
            <a:ext cx="762144" cy="762144"/>
          </a:xfrm>
          <a:custGeom>
            <a:avLst/>
            <a:gdLst/>
            <a:ahLst/>
            <a:cxnLst/>
            <a:rect l="l" t="t" r="r" b="b"/>
            <a:pathLst>
              <a:path w="762144" h="762144">
                <a:moveTo>
                  <a:pt x="0" y="0"/>
                </a:moveTo>
                <a:lnTo>
                  <a:pt x="762144" y="0"/>
                </a:lnTo>
                <a:lnTo>
                  <a:pt x="762144" y="762145"/>
                </a:lnTo>
                <a:lnTo>
                  <a:pt x="0" y="7621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9898883" y="1998983"/>
            <a:ext cx="8159550" cy="2422282"/>
            <a:chOff x="0" y="0"/>
            <a:chExt cx="15720401" cy="4666831"/>
          </a:xfrm>
        </p:grpSpPr>
        <p:sp>
          <p:nvSpPr>
            <p:cNvPr id="27" name="Freeform 27"/>
            <p:cNvSpPr/>
            <p:nvPr/>
          </p:nvSpPr>
          <p:spPr>
            <a:xfrm>
              <a:off x="25243" y="16891"/>
              <a:ext cx="15669782" cy="4632960"/>
            </a:xfrm>
            <a:custGeom>
              <a:avLst/>
              <a:gdLst/>
              <a:ahLst/>
              <a:cxnLst/>
              <a:rect l="l" t="t" r="r" b="b"/>
              <a:pathLst>
                <a:path w="15669782" h="4632960">
                  <a:moveTo>
                    <a:pt x="0" y="0"/>
                  </a:moveTo>
                  <a:lnTo>
                    <a:pt x="15669782" y="0"/>
                  </a:lnTo>
                  <a:lnTo>
                    <a:pt x="1566978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5720267" cy="4666742"/>
            </a:xfrm>
            <a:custGeom>
              <a:avLst/>
              <a:gdLst/>
              <a:ahLst/>
              <a:cxnLst/>
              <a:rect l="l" t="t" r="r" b="b"/>
              <a:pathLst>
                <a:path w="15720267" h="4666742">
                  <a:moveTo>
                    <a:pt x="25243" y="0"/>
                  </a:moveTo>
                  <a:lnTo>
                    <a:pt x="15695025" y="0"/>
                  </a:lnTo>
                  <a:cubicBezTo>
                    <a:pt x="15709069" y="0"/>
                    <a:pt x="15720267" y="7620"/>
                    <a:pt x="15720267" y="16891"/>
                  </a:cubicBezTo>
                  <a:lnTo>
                    <a:pt x="15720267" y="4649851"/>
                  </a:lnTo>
                  <a:cubicBezTo>
                    <a:pt x="15720267" y="4659249"/>
                    <a:pt x="15708880" y="4666742"/>
                    <a:pt x="15695025" y="4666742"/>
                  </a:cubicBezTo>
                  <a:lnTo>
                    <a:pt x="25243" y="4666742"/>
                  </a:lnTo>
                  <a:cubicBezTo>
                    <a:pt x="11198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11388" y="0"/>
                    <a:pt x="25243" y="0"/>
                  </a:cubicBezTo>
                  <a:moveTo>
                    <a:pt x="25243" y="33909"/>
                  </a:moveTo>
                  <a:lnTo>
                    <a:pt x="25243" y="16891"/>
                  </a:lnTo>
                  <a:lnTo>
                    <a:pt x="50676" y="16891"/>
                  </a:lnTo>
                  <a:lnTo>
                    <a:pt x="50676" y="4649851"/>
                  </a:lnTo>
                  <a:lnTo>
                    <a:pt x="25243" y="4649851"/>
                  </a:lnTo>
                  <a:lnTo>
                    <a:pt x="25243" y="4632960"/>
                  </a:lnTo>
                  <a:lnTo>
                    <a:pt x="15695025" y="4632960"/>
                  </a:lnTo>
                  <a:lnTo>
                    <a:pt x="15695025" y="4649851"/>
                  </a:lnTo>
                  <a:lnTo>
                    <a:pt x="15669782" y="4649851"/>
                  </a:lnTo>
                  <a:lnTo>
                    <a:pt x="15669782" y="16891"/>
                  </a:lnTo>
                  <a:lnTo>
                    <a:pt x="15695025" y="16891"/>
                  </a:lnTo>
                  <a:lnTo>
                    <a:pt x="15695025" y="33909"/>
                  </a:lnTo>
                  <a:lnTo>
                    <a:pt x="25243" y="33909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898883" y="1998983"/>
            <a:ext cx="106175" cy="2422282"/>
            <a:chOff x="0" y="0"/>
            <a:chExt cx="204559" cy="466683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0157458" y="2197615"/>
            <a:ext cx="5062529" cy="569535"/>
            <a:chOff x="0" y="0"/>
            <a:chExt cx="975360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753600" cy="1097280"/>
            </a:xfrm>
            <a:custGeom>
              <a:avLst/>
              <a:gdLst/>
              <a:ahLst/>
              <a:cxnLst/>
              <a:rect l="l" t="t" r="r" b="b"/>
              <a:pathLst>
                <a:path w="9753600" h="109728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200" b="-12320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97536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B1A1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IA</a:t>
              </a:r>
            </a:p>
          </p:txBody>
        </p:sp>
      </p:grpSp>
      <p:sp>
        <p:nvSpPr>
          <p:cNvPr id="35" name="Freeform 35"/>
          <p:cNvSpPr/>
          <p:nvPr/>
        </p:nvSpPr>
        <p:spPr>
          <a:xfrm>
            <a:off x="10139366" y="3086991"/>
            <a:ext cx="2332809" cy="771621"/>
          </a:xfrm>
          <a:custGeom>
            <a:avLst/>
            <a:gdLst/>
            <a:ahLst/>
            <a:cxnLst/>
            <a:rect l="l" t="t" r="r" b="b"/>
            <a:pathLst>
              <a:path w="2332809" h="771621">
                <a:moveTo>
                  <a:pt x="0" y="0"/>
                </a:moveTo>
                <a:lnTo>
                  <a:pt x="2332809" y="0"/>
                </a:lnTo>
                <a:lnTo>
                  <a:pt x="2332809" y="771621"/>
                </a:lnTo>
                <a:lnTo>
                  <a:pt x="0" y="7716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728396" y="2813519"/>
            <a:ext cx="1004989" cy="1329772"/>
          </a:xfrm>
          <a:custGeom>
            <a:avLst/>
            <a:gdLst/>
            <a:ahLst/>
            <a:cxnLst/>
            <a:rect l="l" t="t" r="r" b="b"/>
            <a:pathLst>
              <a:path w="1004989" h="1329772">
                <a:moveTo>
                  <a:pt x="0" y="0"/>
                </a:moveTo>
                <a:lnTo>
                  <a:pt x="1004989" y="0"/>
                </a:lnTo>
                <a:lnTo>
                  <a:pt x="1004989" y="1329772"/>
                </a:lnTo>
                <a:lnTo>
                  <a:pt x="0" y="13297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4254425" y="3036888"/>
            <a:ext cx="1768822" cy="884411"/>
          </a:xfrm>
          <a:custGeom>
            <a:avLst/>
            <a:gdLst/>
            <a:ahLst/>
            <a:cxnLst/>
            <a:rect l="l" t="t" r="r" b="b"/>
            <a:pathLst>
              <a:path w="1768822" h="884411">
                <a:moveTo>
                  <a:pt x="0" y="0"/>
                </a:moveTo>
                <a:lnTo>
                  <a:pt x="1768822" y="0"/>
                </a:lnTo>
                <a:lnTo>
                  <a:pt x="1768822" y="884411"/>
                </a:lnTo>
                <a:lnTo>
                  <a:pt x="0" y="8844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6384161" y="3215130"/>
            <a:ext cx="1522468" cy="681702"/>
          </a:xfrm>
          <a:custGeom>
            <a:avLst/>
            <a:gdLst/>
            <a:ahLst/>
            <a:cxnLst/>
            <a:rect l="l" t="t" r="r" b="b"/>
            <a:pathLst>
              <a:path w="1522468" h="681702">
                <a:moveTo>
                  <a:pt x="0" y="0"/>
                </a:moveTo>
                <a:lnTo>
                  <a:pt x="1522468" y="0"/>
                </a:lnTo>
                <a:lnTo>
                  <a:pt x="1522468" y="681702"/>
                </a:lnTo>
                <a:lnTo>
                  <a:pt x="0" y="6817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9898883" y="5202645"/>
            <a:ext cx="8159550" cy="2422282"/>
            <a:chOff x="0" y="0"/>
            <a:chExt cx="15720401" cy="4666831"/>
          </a:xfrm>
        </p:grpSpPr>
        <p:sp>
          <p:nvSpPr>
            <p:cNvPr id="40" name="Freeform 40"/>
            <p:cNvSpPr/>
            <p:nvPr/>
          </p:nvSpPr>
          <p:spPr>
            <a:xfrm>
              <a:off x="25243" y="16891"/>
              <a:ext cx="15669782" cy="4632960"/>
            </a:xfrm>
            <a:custGeom>
              <a:avLst/>
              <a:gdLst/>
              <a:ahLst/>
              <a:cxnLst/>
              <a:rect l="l" t="t" r="r" b="b"/>
              <a:pathLst>
                <a:path w="15669782" h="4632960">
                  <a:moveTo>
                    <a:pt x="0" y="0"/>
                  </a:moveTo>
                  <a:lnTo>
                    <a:pt x="15669782" y="0"/>
                  </a:lnTo>
                  <a:lnTo>
                    <a:pt x="15669782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15720267" cy="4666742"/>
            </a:xfrm>
            <a:custGeom>
              <a:avLst/>
              <a:gdLst/>
              <a:ahLst/>
              <a:cxnLst/>
              <a:rect l="l" t="t" r="r" b="b"/>
              <a:pathLst>
                <a:path w="15720267" h="4666742">
                  <a:moveTo>
                    <a:pt x="25243" y="0"/>
                  </a:moveTo>
                  <a:lnTo>
                    <a:pt x="15695025" y="0"/>
                  </a:lnTo>
                  <a:cubicBezTo>
                    <a:pt x="15709069" y="0"/>
                    <a:pt x="15720267" y="7620"/>
                    <a:pt x="15720267" y="16891"/>
                  </a:cubicBezTo>
                  <a:lnTo>
                    <a:pt x="15720267" y="4649851"/>
                  </a:lnTo>
                  <a:cubicBezTo>
                    <a:pt x="15720267" y="4659249"/>
                    <a:pt x="15708880" y="4666742"/>
                    <a:pt x="15695025" y="4666742"/>
                  </a:cubicBezTo>
                  <a:lnTo>
                    <a:pt x="25243" y="4666742"/>
                  </a:lnTo>
                  <a:cubicBezTo>
                    <a:pt x="11198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11388" y="0"/>
                    <a:pt x="25243" y="0"/>
                  </a:cubicBezTo>
                  <a:moveTo>
                    <a:pt x="25243" y="33909"/>
                  </a:moveTo>
                  <a:lnTo>
                    <a:pt x="25243" y="16891"/>
                  </a:lnTo>
                  <a:lnTo>
                    <a:pt x="50676" y="16891"/>
                  </a:lnTo>
                  <a:lnTo>
                    <a:pt x="50676" y="4649851"/>
                  </a:lnTo>
                  <a:lnTo>
                    <a:pt x="25243" y="4649851"/>
                  </a:lnTo>
                  <a:lnTo>
                    <a:pt x="25243" y="4632960"/>
                  </a:lnTo>
                  <a:lnTo>
                    <a:pt x="15695025" y="4632960"/>
                  </a:lnTo>
                  <a:lnTo>
                    <a:pt x="15695025" y="4649851"/>
                  </a:lnTo>
                  <a:lnTo>
                    <a:pt x="15669782" y="4649851"/>
                  </a:lnTo>
                  <a:lnTo>
                    <a:pt x="15669782" y="16891"/>
                  </a:lnTo>
                  <a:lnTo>
                    <a:pt x="15695025" y="16891"/>
                  </a:lnTo>
                  <a:lnTo>
                    <a:pt x="15695025" y="33909"/>
                  </a:lnTo>
                  <a:lnTo>
                    <a:pt x="25243" y="33909"/>
                  </a:lnTo>
                  <a:close/>
                </a:path>
              </a:pathLst>
            </a:custGeom>
            <a:solidFill>
              <a:srgbClr val="E8E8E8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898883" y="5202645"/>
            <a:ext cx="106175" cy="2422282"/>
            <a:chOff x="0" y="0"/>
            <a:chExt cx="204559" cy="466683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170688" cy="4632960"/>
            </a:xfrm>
            <a:custGeom>
              <a:avLst/>
              <a:gdLst/>
              <a:ahLst/>
              <a:cxnLst/>
              <a:rect l="l" t="t" r="r" b="b"/>
              <a:pathLst>
                <a:path w="170688" h="4632960">
                  <a:moveTo>
                    <a:pt x="0" y="0"/>
                  </a:moveTo>
                  <a:lnTo>
                    <a:pt x="170688" y="0"/>
                  </a:lnTo>
                  <a:lnTo>
                    <a:pt x="17068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7B1A1A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204470" cy="4666742"/>
            </a:xfrm>
            <a:custGeom>
              <a:avLst/>
              <a:gdLst/>
              <a:ahLst/>
              <a:cxnLst/>
              <a:rect l="l" t="t" r="r" b="b"/>
              <a:pathLst>
                <a:path w="204470" h="4666742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4649851"/>
                  </a:lnTo>
                  <a:cubicBezTo>
                    <a:pt x="204470" y="4659249"/>
                    <a:pt x="196850" y="4666742"/>
                    <a:pt x="18757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87579" y="4632960"/>
                  </a:lnTo>
                  <a:lnTo>
                    <a:pt x="187579" y="4649851"/>
                  </a:lnTo>
                  <a:lnTo>
                    <a:pt x="170688" y="46498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A1A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0197132" y="5354715"/>
            <a:ext cx="5062529" cy="999232"/>
            <a:chOff x="0" y="0"/>
            <a:chExt cx="9753600" cy="192514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753600" cy="1925146"/>
            </a:xfrm>
            <a:custGeom>
              <a:avLst/>
              <a:gdLst/>
              <a:ahLst/>
              <a:cxnLst/>
              <a:rect l="l" t="t" r="r" b="b"/>
              <a:pathLst>
                <a:path w="9753600" h="1925146">
                  <a:moveTo>
                    <a:pt x="0" y="0"/>
                  </a:moveTo>
                  <a:lnTo>
                    <a:pt x="9753600" y="0"/>
                  </a:lnTo>
                  <a:lnTo>
                    <a:pt x="9753600" y="1925146"/>
                  </a:lnTo>
                  <a:lnTo>
                    <a:pt x="0" y="19251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220" b="-2721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9753600" cy="1944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B1A1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Communication &amp; Temps réel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10961023" y="6276739"/>
            <a:ext cx="1357956" cy="903658"/>
          </a:xfrm>
          <a:custGeom>
            <a:avLst/>
            <a:gdLst/>
            <a:ahLst/>
            <a:cxnLst/>
            <a:rect l="l" t="t" r="r" b="b"/>
            <a:pathLst>
              <a:path w="1357956" h="903658">
                <a:moveTo>
                  <a:pt x="0" y="0"/>
                </a:moveTo>
                <a:lnTo>
                  <a:pt x="1357956" y="0"/>
                </a:lnTo>
                <a:lnTo>
                  <a:pt x="1357956" y="903658"/>
                </a:lnTo>
                <a:lnTo>
                  <a:pt x="0" y="9036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1501202" y="485775"/>
            <a:ext cx="1623060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71"/>
              </a:lnSpc>
            </a:pPr>
            <a:r>
              <a:rPr lang="en-US" sz="3809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Outils et technologies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994548" y="9059611"/>
            <a:ext cx="8116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14757" y="1409700"/>
            <a:ext cx="8498497" cy="8538303"/>
          </a:xfrm>
          <a:custGeom>
            <a:avLst/>
            <a:gdLst/>
            <a:ahLst/>
            <a:cxnLst/>
            <a:rect l="l" t="t" r="r" b="b"/>
            <a:pathLst>
              <a:path w="8498497" h="8538303">
                <a:moveTo>
                  <a:pt x="0" y="0"/>
                </a:moveTo>
                <a:lnTo>
                  <a:pt x="8498497" y="0"/>
                </a:lnTo>
                <a:lnTo>
                  <a:pt x="8498497" y="8538303"/>
                </a:lnTo>
                <a:lnTo>
                  <a:pt x="0" y="853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01202" y="485775"/>
            <a:ext cx="1623060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71"/>
              </a:lnSpc>
            </a:pPr>
            <a:r>
              <a:rPr lang="en-US" sz="3809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Diagramme de cas d'utilisation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94548" y="9059611"/>
            <a:ext cx="8116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8349" y="447675"/>
            <a:ext cx="1623060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72"/>
              </a:lnSpc>
            </a:pPr>
            <a:r>
              <a:rPr lang="en-US" sz="38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Diagramme de séquence (API REST)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94548" y="9059611"/>
            <a:ext cx="8116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8</a:t>
            </a:r>
          </a:p>
        </p:txBody>
      </p:sp>
      <p:sp>
        <p:nvSpPr>
          <p:cNvPr id="4" name="Freeform 4"/>
          <p:cNvSpPr/>
          <p:nvPr/>
        </p:nvSpPr>
        <p:spPr>
          <a:xfrm>
            <a:off x="4938922" y="1420508"/>
            <a:ext cx="8410156" cy="8527495"/>
          </a:xfrm>
          <a:custGeom>
            <a:avLst/>
            <a:gdLst/>
            <a:ahLst/>
            <a:cxnLst/>
            <a:rect l="l" t="t" r="r" b="b"/>
            <a:pathLst>
              <a:path w="8410156" h="8527495">
                <a:moveTo>
                  <a:pt x="0" y="0"/>
                </a:moveTo>
                <a:lnTo>
                  <a:pt x="8410156" y="0"/>
                </a:lnTo>
                <a:lnTo>
                  <a:pt x="8410156" y="8527495"/>
                </a:lnTo>
                <a:lnTo>
                  <a:pt x="0" y="8527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95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8349" y="447675"/>
            <a:ext cx="1623060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71"/>
              </a:lnSpc>
            </a:pPr>
            <a:r>
              <a:rPr lang="en-US" sz="3809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Flux temps réel (WebSocket)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94548" y="9059611"/>
            <a:ext cx="8116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9</a:t>
            </a:r>
          </a:p>
        </p:txBody>
      </p:sp>
      <p:sp>
        <p:nvSpPr>
          <p:cNvPr id="4" name="Freeform 4"/>
          <p:cNvSpPr/>
          <p:nvPr/>
        </p:nvSpPr>
        <p:spPr>
          <a:xfrm>
            <a:off x="4041135" y="1161260"/>
            <a:ext cx="10205730" cy="9125740"/>
          </a:xfrm>
          <a:custGeom>
            <a:avLst/>
            <a:gdLst/>
            <a:ahLst/>
            <a:cxnLst/>
            <a:rect l="l" t="t" r="r" b="b"/>
            <a:pathLst>
              <a:path w="10205730" h="9125740">
                <a:moveTo>
                  <a:pt x="0" y="0"/>
                </a:moveTo>
                <a:lnTo>
                  <a:pt x="10205730" y="0"/>
                </a:lnTo>
                <a:lnTo>
                  <a:pt x="10205730" y="9125740"/>
                </a:lnTo>
                <a:lnTo>
                  <a:pt x="0" y="9125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509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DB326-CAAB-A114-8155-5C200785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4AA2F48-053C-19E0-6C8E-A434A52EFCD5}"/>
              </a:ext>
            </a:extLst>
          </p:cNvPr>
          <p:cNvSpPr txBox="1"/>
          <p:nvPr/>
        </p:nvSpPr>
        <p:spPr>
          <a:xfrm>
            <a:off x="418349" y="447675"/>
            <a:ext cx="16230600" cy="555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71"/>
              </a:lnSpc>
            </a:pPr>
            <a:r>
              <a:rPr lang="en-US" sz="3809" b="1" dirty="0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Architecture </a:t>
            </a:r>
            <a:r>
              <a:rPr lang="en-US" sz="3809" b="1" dirty="0" err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globale</a:t>
            </a:r>
            <a:endParaRPr lang="en-US" sz="3809" b="1" dirty="0">
              <a:solidFill>
                <a:srgbClr val="882028"/>
              </a:solidFill>
              <a:latin typeface="Georgia Pro Bold"/>
              <a:ea typeface="Georgia Pro Bold"/>
              <a:cs typeface="Georgia Pro Bold"/>
              <a:sym typeface="Georgia Pro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5B53D-0B15-D294-BE7D-8879C1C5C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169197"/>
            <a:ext cx="14173200" cy="867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56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543425"/>
            <a:ext cx="16230600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72"/>
              </a:lnSpc>
            </a:pPr>
            <a:r>
              <a:rPr lang="en-US" sz="78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Réalisation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1202" y="485775"/>
            <a:ext cx="1623060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32"/>
              </a:lnSpc>
            </a:pPr>
            <a:r>
              <a:rPr lang="en-US" sz="56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Dataset et entraînement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37348" y="9059611"/>
            <a:ext cx="12688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01202" y="1900876"/>
            <a:ext cx="17340074" cy="277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Source : Construction Site Safety Image Dataset (Roboflow)</a:t>
            </a:r>
          </a:p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44 002 images annotées au format YOLO</a:t>
            </a:r>
          </a:p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Fine-tuning complet depuis les poids pré-entraînés yolo8n.pt</a:t>
            </a:r>
          </a:p>
          <a:p>
            <a:pPr marL="782977" lvl="1" indent="-391489" algn="just">
              <a:lnSpc>
                <a:spcPts val="4351"/>
              </a:lnSpc>
              <a:spcBef>
                <a:spcPct val="0"/>
              </a:spcBef>
              <a:buFont typeface="Arial"/>
              <a:buChar char="•"/>
            </a:pPr>
            <a:r>
              <a:rPr lang="en-US" sz="36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Hyperparamètres : 30 époques, image 640×640, batch 32, AMP</a:t>
            </a:r>
          </a:p>
          <a:p>
            <a:pPr algn="just">
              <a:lnSpc>
                <a:spcPts val="4351"/>
              </a:lnSpc>
              <a:spcBef>
                <a:spcPct val="0"/>
              </a:spcBef>
            </a:pPr>
            <a:endParaRPr lang="en-US" sz="3626">
              <a:solidFill>
                <a:srgbClr val="000000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718278" y="4796255"/>
          <a:ext cx="8851443" cy="4171950"/>
        </p:xfrm>
        <a:graphic>
          <a:graphicData uri="http://schemas.openxmlformats.org/drawingml/2006/table">
            <a:tbl>
              <a:tblPr/>
              <a:tblGrid>
                <a:gridCol w="2950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0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0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52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Partition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Images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84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Entraînement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30 765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2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8 814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20%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2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4 423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10%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2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44 002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100%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1202" y="485775"/>
            <a:ext cx="16230600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32"/>
              </a:lnSpc>
            </a:pPr>
            <a:r>
              <a:rPr lang="en-US" sz="56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Tests &amp; Résultats - Métriques + Performances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89748" y="9059611"/>
            <a:ext cx="1116432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13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063048" y="2442317"/>
          <a:ext cx="13106908" cy="7301478"/>
        </p:xfrm>
        <a:graphic>
          <a:graphicData uri="http://schemas.openxmlformats.org/drawingml/2006/table">
            <a:tbl>
              <a:tblPr/>
              <a:tblGrid>
                <a:gridCol w="580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6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561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Métrique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Valeur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Analyse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4588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Précision (B)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Quelques faux positifs (occlusions)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018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Rappel (B)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Peu d'infractions non détectées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018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mAP@50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78%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Convergence en 30 époques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018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mAP@50-95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49%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Localisation a ameliorer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61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Inférence GPU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25–30 ms/frame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Temps réel assuré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61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Débit WebSocket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eorgia Pro"/>
                          <a:ea typeface="Georgia Pro"/>
                          <a:cs typeface="Georgia Pro"/>
                          <a:sym typeface="Georgia Pro"/>
                        </a:rPr>
                        <a:t>25–30 FPS stable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Fluide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90001">
            <a:off x="8184134" y="-34516"/>
            <a:ext cx="12588514" cy="11392605"/>
          </a:xfrm>
          <a:custGeom>
            <a:avLst/>
            <a:gdLst/>
            <a:ahLst/>
            <a:cxnLst/>
            <a:rect l="l" t="t" r="r" b="b"/>
            <a:pathLst>
              <a:path w="12588514" h="11392605">
                <a:moveTo>
                  <a:pt x="0" y="0"/>
                </a:moveTo>
                <a:lnTo>
                  <a:pt x="12588514" y="0"/>
                </a:lnTo>
                <a:lnTo>
                  <a:pt x="12588514" y="11392606"/>
                </a:lnTo>
                <a:lnTo>
                  <a:pt x="0" y="11392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580517" y="9059611"/>
            <a:ext cx="1225664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01202" y="485775"/>
            <a:ext cx="16230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12"/>
              </a:lnSpc>
            </a:pPr>
            <a:r>
              <a:rPr lang="en-US" sz="70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Répartition des tâches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501202" y="2125752"/>
          <a:ext cx="14441824" cy="4776576"/>
        </p:xfrm>
        <a:graphic>
          <a:graphicData uri="http://schemas.openxmlformats.org/drawingml/2006/table">
            <a:tbl>
              <a:tblPr/>
              <a:tblGrid>
                <a:gridCol w="7220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907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Membre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eorgia Pro"/>
                          <a:ea typeface="Georgia Pro"/>
                          <a:cs typeface="Georgia Pro"/>
                          <a:sym typeface="Georgia Pro"/>
                        </a:rPr>
                        <a:t>Contributions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450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Yassine Lamghari El Kossori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Backend FastAPI, entraînement YOLO, WebSocket serveur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8516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Souhail Bechchari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Frontend, interface utilisateur, WebSocket client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4490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Oubaydoullah Asli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Dataset PPE, recherche bibliographique, rédaction rapport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501202" y="7446929"/>
            <a:ext cx="1533621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1"/>
              </a:lnSpc>
              <a:spcBef>
                <a:spcPct val="0"/>
              </a:spcBef>
            </a:pPr>
            <a:r>
              <a:rPr lang="en-US" sz="2926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Méthodologie en 6 étapes : Revue littérature → Collecte dataset → Conception → Implémentation → Tests → Documentation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5775"/>
            <a:ext cx="162306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12"/>
              </a:lnSpc>
            </a:pPr>
            <a:r>
              <a:rPr lang="en-US" sz="70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Limites et perspectives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26192" y="9059611"/>
            <a:ext cx="1079988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15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501202" y="2125752"/>
          <a:ext cx="14441824" cy="6338674"/>
        </p:xfrm>
        <a:graphic>
          <a:graphicData uri="http://schemas.openxmlformats.org/drawingml/2006/table">
            <a:tbl>
              <a:tblPr/>
              <a:tblGrid>
                <a:gridCol w="7220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6603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Horizon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0112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Limites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Précision 70% (faux positifs) • mAP@50-95 faible (49%) • 30 époques insuffisantes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1457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Court terme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100–150 époques • Rééchantillonnage des classes • Viser mAP &gt; 85%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0251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Moyen terme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Tracking (DeepSORT/ByteTrack) • Alertes push/SMS • Journalisation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0251"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Long terme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Georgia Pro Bold"/>
                          <a:ea typeface="Georgia Pro Bold"/>
                          <a:cs typeface="Georgia Pro Bold"/>
                          <a:sym typeface="Georgia Pro Bold"/>
                        </a:rPr>
                        <a:t>Edge Computing (NVIDIA Jetson) • Architecture distribuée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238625"/>
            <a:ext cx="16230600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72"/>
              </a:lnSpc>
            </a:pPr>
            <a:r>
              <a:rPr lang="en-US" sz="78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Démonstration interface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3789" y="428136"/>
            <a:ext cx="1885319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12"/>
              </a:lnSpc>
            </a:pPr>
            <a:r>
              <a:rPr lang="en-US" sz="7010" b="1">
                <a:solidFill>
                  <a:srgbClr val="882028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726192" y="9059611"/>
            <a:ext cx="1079988" cy="8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8"/>
              </a:lnSpc>
            </a:pPr>
            <a:r>
              <a:rPr lang="en-US" sz="5148" spc="4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3789" y="2374928"/>
            <a:ext cx="15552934" cy="374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sz="353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DetectAI : système complet et opérationnel de surveillance intelligente de chantiers</a:t>
            </a:r>
          </a:p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sz="353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mAP@50 78% • Rappel 82% • 25+ FPS — viabilité démontrée pour un déploiement réel</a:t>
            </a:r>
          </a:p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sz="353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Compétences : IA/Deep Learning • Backend asynchrone • Frontend moderne • WebSockets</a:t>
            </a:r>
          </a:p>
          <a:p>
            <a:pPr algn="l">
              <a:lnSpc>
                <a:spcPts val="4247"/>
              </a:lnSpc>
              <a:spcBef>
                <a:spcPct val="0"/>
              </a:spcBef>
            </a:pPr>
            <a:r>
              <a:rPr lang="en-US" sz="353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Un premier pas concret vers des chantiers plus sûrs et plus intelligents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88623" y="3867150"/>
            <a:ext cx="1623060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92"/>
              </a:lnSpc>
            </a:pPr>
            <a:r>
              <a:rPr lang="en-US" sz="8410" b="1">
                <a:solidFill>
                  <a:srgbClr val="88202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1325</Words>
  <Application>Microsoft Office PowerPoint</Application>
  <PresentationFormat>Custom</PresentationFormat>
  <Paragraphs>186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HK Grotesk Bold</vt:lpstr>
      <vt:lpstr>HK Grotesk</vt:lpstr>
      <vt:lpstr>Calibri</vt:lpstr>
      <vt:lpstr>HK Grotesk Medium</vt:lpstr>
      <vt:lpstr>Georgia Pro</vt:lpstr>
      <vt:lpstr>Allerta Stencil</vt:lpstr>
      <vt:lpstr>Georgia Pro Bold</vt:lpstr>
      <vt:lpstr>Times New Roman MT Bold</vt:lpstr>
      <vt:lpstr>Arial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DetectAi</dc:title>
  <cp:lastModifiedBy>Souhail bechchari</cp:lastModifiedBy>
  <cp:revision>2</cp:revision>
  <dcterms:created xsi:type="dcterms:W3CDTF">2006-08-16T00:00:00Z</dcterms:created>
  <dcterms:modified xsi:type="dcterms:W3CDTF">2026-05-11T10:18:41Z</dcterms:modified>
  <dc:identifier>DAHIi2EjvHY</dc:identifier>
</cp:coreProperties>
</file>