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2.svg" ContentType="image/svg"/>
  <Override PartName="/ppt/media/image3.svg" ContentType="image/svg"/>
  <Override PartName="/ppt/media/image8.svg" ContentType="image/svg"/>
  <Override PartName="/ppt/media/image17.png" ContentType="image/png"/>
  <Override PartName="/ppt/media/image1.png" ContentType="image/png"/>
  <Override PartName="/ppt/media/image14.png" ContentType="image/png"/>
  <Override PartName="/ppt/media/image5.png" ContentType="image/png"/>
  <Override PartName="/ppt/media/image15.svg" ContentType="image/svg"/>
  <Override PartName="/ppt/media/image6.svg" ContentType="image/svg"/>
  <Override PartName="/ppt/media/image9.png" ContentType="image/png"/>
  <Override PartName="/ppt/media/image10.svg" ContentType="image/svg"/>
  <Override PartName="/ppt/media/image13.png" ContentType="image/png"/>
  <Override PartName="/ppt/media/image4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comments/comment1.xml" ContentType="application/vnd.openxmlformats-officedocument.presentationml.comment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notesSlide9.xml" ContentType="application/vnd.openxmlformats-officedocument.presentationml.notesSlide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</p:sldIdLst>
  <p:sldSz cx="18288000" cy="10287000"/>
  <p:notesSz cx="6858000" cy="9144000"/>
</p:presentation>
</file>

<file path=ppt/commentAuthors.xml><?xml version="1.0" encoding="utf-8"?>
<p:cmAuthorLst xmlns:p="http://schemas.openxmlformats.org/presentationml/2006/main">
  <p:cmAuthor id="0" name="Souhail bechchari" initials="S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presProps" Target="presProps.xml"/><Relationship Id="rId31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05-11T10:19:52.065000000" idx="1">
    <p:pos x="0" y="0"/>
    <p:text>jjjjjjjjj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1522452-B0A8-4057-AE68-7A99A5AD5FA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Pour concrétiser cette architecture, nous avons sélectionné une pile technologique moderne et robuste, divisée en 4 grands pôles 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Commençons par l'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Intelligence Artificielle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. Nous avons utilisé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YOLOv8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 pour la détection pure, soutenu par le moteur Deep Learning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PyTorch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. Pour manipuler les images et les flux vidéo de manière mathématique, nous nous sommes appuyés sur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OpenCV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 et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NumPy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Pour le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Backend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, c'est-à-dire le cœur de notre serveur, nous avons programmé en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Python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. Nous avons choisi le framework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FastAPI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 couplé au serveur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Uvicorn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 pour leurs performances asynchrones exceptionnelles.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Du côté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Frontend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, pour que l'opérateur ait une interface propre et réactive, nous sommes restés sur les standards du web :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HTML5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,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CSS3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, et du JavaScript moderne (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ES6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Enfin, pour lier le Frontend et le Backend, particulièrement pour la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communication en temps réel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, nous avons intégré les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WebSockets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. C'est ce qui nous permet d'avoir un flux vidéo fluide sans recharger la page."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C545C2-588C-48E6-9700-A4CC39B661D4}" type="slidenum"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Côté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Client (User)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, nous avons le navigateur web. Au premier lancement, il fait de simples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Requêtes HTTP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 pour charger l'interface utilisateur (nos fichiers HTML, CSS et JS). Le navigateur gère aussi la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Capture Webcam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Pour la vidéo en direct, le client initie une connexion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WebSocket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. Le flux vidéo ne passe pas par des requêtes HTTP classiques, mais par ce tunnel WebSocket rapide et bidirectionnel en vert, jusqu'à notre serveur.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Côté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Serveur (DetectAI Backend)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, c'est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FastAPI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 qui réceptionne ces données. Il ne travaille pas seul : il délègue le traitement vidéo et le prétraitement de l'image (découpage, redimensionnement) à la bibliothèque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OpenCV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Ensuite, OpenCV envoie cette matrice d'image propre au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Modèle YOLOv8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 (ou v11 selon la version testée). C'est ici que l'intelligence artificielle fait l'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Inférence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 (la détection des équipements de sécurité).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Enfin, YOLO renvoie les coordonnées à OpenCV pour </a:t>
            </a:r>
            <a:r>
              <a:rPr b="1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Annoter</a:t>
            </a:r>
            <a:r>
              <a:rPr b="0" i="1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 l'image (dessiner les boîtes). FastAPI reprend cette image finale et la renvoie à travers le WebSocket jusqu'au navigateur de l'utilisateur."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EA3EE9-4F38-4F64-8BA0-3A718C2B3C3D}" type="slidenum"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C30210-6B68-45DB-8E44-9E6A1C8707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8E588B0-8955-4008-AFAB-940458CB6D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CE9EB88-C414-4086-882E-BF3430D289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9D0A71B-A3E3-4B8E-BC30-BE5396B880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9DE4311-5D42-45C1-9E33-AA823C7413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9A80AA9-F24A-4124-8C33-4B2C75A3FD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9E14738-C250-4A5D-BBED-943706EB25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290448F-B163-4770-AD36-0465C2CA22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E4AF19B-BBC9-430B-9504-08EA9E00CC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B52D131-2547-476D-9350-A51DDDC916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6A52786-825B-48FA-868F-0282B56DFC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710CE9-58F9-4F3C-A13D-FC04EE889E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D6BA79-F21A-4D22-8960-8014F54E83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B61C05-AB32-4642-925E-864152132F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6F8025-5557-4E2B-B17A-E9B56A9457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C171D5-52C1-43DA-9D25-9C609A6BCF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3A8B64-37A5-47BB-8A14-01BEB87B79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F42203-FB46-4ED9-88FC-AC16964F504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686957-A1B6-4116-9161-FCADC7A1DB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18BDD7-6837-4241-AE32-B0BF613D92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BF4130-89AA-4DCE-B162-5A83204D3C8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A604EF-6EDF-4752-9A11-DCBA460AC9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comments" Target="../comments/commen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7.png"/><Relationship Id="rId15" Type="http://schemas.openxmlformats.org/officeDocument/2006/relationships/image" Target="../media/image8.svg"/><Relationship Id="rId16" Type="http://schemas.openxmlformats.org/officeDocument/2006/relationships/image" Target="../media/image2.png"/><Relationship Id="rId17" Type="http://schemas.openxmlformats.org/officeDocument/2006/relationships/image" Target="../media/image3.svg"/><Relationship Id="rId18" Type="http://schemas.openxmlformats.org/officeDocument/2006/relationships/image" Target="../media/image9.png"/><Relationship Id="rId19" Type="http://schemas.openxmlformats.org/officeDocument/2006/relationships/image" Target="../media/image10.svg"/><Relationship Id="rId20" Type="http://schemas.openxmlformats.org/officeDocument/2006/relationships/image" Target="../media/image11.png"/><Relationship Id="rId21" Type="http://schemas.openxmlformats.org/officeDocument/2006/relationships/image" Target="../media/image12.svg"/><Relationship Id="rId22" Type="http://schemas.openxmlformats.org/officeDocument/2006/relationships/image" Target="../media/image13.png"/><Relationship Id="rId23" Type="http://schemas.openxmlformats.org/officeDocument/2006/relationships/image" Target="../media/image14.png"/><Relationship Id="rId24" Type="http://schemas.openxmlformats.org/officeDocument/2006/relationships/image" Target="../media/image15.svg"/><Relationship Id="rId25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2"/>
          <p:cNvSpPr/>
          <p:nvPr/>
        </p:nvSpPr>
        <p:spPr>
          <a:xfrm>
            <a:off x="1662840" y="7315560"/>
            <a:ext cx="2981880" cy="13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000000"/>
                </a:solidFill>
                <a:latin typeface="Times New Roman MT"/>
                <a:ea typeface="Times New Roman MT"/>
              </a:rPr>
              <a:t>Présenté par :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000000"/>
                </a:solidFill>
                <a:latin typeface="Times New Roman MT"/>
                <a:ea typeface="Times New Roman MT"/>
              </a:rPr>
              <a:t>Ayoub ETTALBI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000000"/>
                </a:solidFill>
                <a:latin typeface="Times New Roman MT"/>
                <a:ea typeface="Times New Roman MT"/>
              </a:rPr>
              <a:t>Tebbaa RANIA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2659"/>
              </a:lnSpc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12522960" y="7982280"/>
            <a:ext cx="47347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000000"/>
                </a:solidFill>
                <a:latin typeface="Times New Roman MT"/>
                <a:ea typeface="Times New Roman MT"/>
              </a:rPr>
              <a:t>Encadré par Dr. Aniq El Mehdi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8165160" y="6489000"/>
            <a:ext cx="19562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000000"/>
                </a:solidFill>
                <a:latin typeface="Times New Roman MT"/>
                <a:ea typeface="Times New Roman MT"/>
              </a:rPr>
              <a:t>3iir G2 - 2025/2026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Freeform 5"/>
          <p:cNvSpPr/>
          <p:nvPr/>
        </p:nvSpPr>
        <p:spPr>
          <a:xfrm>
            <a:off x="6342840" y="690840"/>
            <a:ext cx="5600880" cy="1223640"/>
          </a:xfrm>
          <a:custGeom>
            <a:avLst/>
            <a:gdLst>
              <a:gd name="textAreaLeft" fmla="*/ 0 w 5600880"/>
              <a:gd name="textAreaRight" fmla="*/ 5602680 w 5600880"/>
              <a:gd name="textAreaTop" fmla="*/ 0 h 1223640"/>
              <a:gd name="textAreaBottom" fmla="*/ 1225440 h 1223640"/>
            </a:gdLst>
            <a:ahLst/>
            <a:rect l="textAreaLeft" t="textAreaTop" r="textAreaRight" b="textAreaBottom"/>
            <a:pathLst>
              <a:path w="5602510" h="1225549">
                <a:moveTo>
                  <a:pt x="0" y="0"/>
                </a:moveTo>
                <a:lnTo>
                  <a:pt x="5602510" y="0"/>
                </a:lnTo>
                <a:lnTo>
                  <a:pt x="5602510" y="1225549"/>
                </a:lnTo>
                <a:lnTo>
                  <a:pt x="0" y="12255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6"/>
          <p:cNvSpPr/>
          <p:nvPr/>
        </p:nvSpPr>
        <p:spPr>
          <a:xfrm>
            <a:off x="1908720" y="3316320"/>
            <a:ext cx="15042240" cy="31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325"/>
              </a:lnSpc>
            </a:pPr>
            <a:r>
              <a:rPr b="1" lang="en-US" sz="7000" spc="-1" strike="noStrike">
                <a:solidFill>
                  <a:srgbClr val="063566"/>
                </a:solidFill>
                <a:latin typeface="Times New Roman MT Bold"/>
                <a:ea typeface="Times New Roman MT Bold"/>
              </a:rPr>
              <a:t>EMSVIA : Système intelligent de présence par reconnaissance faciale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3854880" y="5474160"/>
            <a:ext cx="535680" cy="535680"/>
            <a:chOff x="3854880" y="5474160"/>
            <a:chExt cx="535680" cy="535680"/>
          </a:xfrm>
        </p:grpSpPr>
        <p:sp>
          <p:nvSpPr>
            <p:cNvPr id="62" name="Freeform 3"/>
            <p:cNvSpPr/>
            <p:nvPr/>
          </p:nvSpPr>
          <p:spPr>
            <a:xfrm>
              <a:off x="3854880" y="5474160"/>
              <a:ext cx="535680" cy="535680"/>
            </a:xfrm>
            <a:custGeom>
              <a:avLst/>
              <a:gdLst>
                <a:gd name="textAreaLeft" fmla="*/ 0 w 535680"/>
                <a:gd name="textAreaRight" fmla="*/ 537480 w 535680"/>
                <a:gd name="textAreaTop" fmla="*/ 0 h 535680"/>
                <a:gd name="textAreaBottom" fmla="*/ 537480 h 535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5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" name="TextBox 4"/>
            <p:cNvSpPr/>
            <p:nvPr/>
          </p:nvSpPr>
          <p:spPr>
            <a:xfrm>
              <a:off x="3905280" y="5486760"/>
              <a:ext cx="434880" cy="47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322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4" name="Group 5"/>
          <p:cNvGrpSpPr/>
          <p:nvPr/>
        </p:nvGrpSpPr>
        <p:grpSpPr>
          <a:xfrm>
            <a:off x="6116760" y="5474160"/>
            <a:ext cx="535680" cy="535680"/>
            <a:chOff x="6116760" y="5474160"/>
            <a:chExt cx="535680" cy="535680"/>
          </a:xfrm>
        </p:grpSpPr>
        <p:sp>
          <p:nvSpPr>
            <p:cNvPr id="65" name="Freeform 6"/>
            <p:cNvSpPr/>
            <p:nvPr/>
          </p:nvSpPr>
          <p:spPr>
            <a:xfrm>
              <a:off x="6116760" y="5474160"/>
              <a:ext cx="535680" cy="535680"/>
            </a:xfrm>
            <a:custGeom>
              <a:avLst/>
              <a:gdLst>
                <a:gd name="textAreaLeft" fmla="*/ 0 w 535680"/>
                <a:gd name="textAreaRight" fmla="*/ 537480 w 535680"/>
                <a:gd name="textAreaTop" fmla="*/ 0 h 535680"/>
                <a:gd name="textAreaBottom" fmla="*/ 537480 h 535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" name="TextBox 7"/>
            <p:cNvSpPr/>
            <p:nvPr/>
          </p:nvSpPr>
          <p:spPr>
            <a:xfrm>
              <a:off x="6167160" y="5486760"/>
              <a:ext cx="434880" cy="47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322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7" name="Group 8"/>
          <p:cNvGrpSpPr/>
          <p:nvPr/>
        </p:nvGrpSpPr>
        <p:grpSpPr>
          <a:xfrm>
            <a:off x="8378280" y="5474160"/>
            <a:ext cx="535680" cy="535680"/>
            <a:chOff x="8378280" y="5474160"/>
            <a:chExt cx="535680" cy="535680"/>
          </a:xfrm>
        </p:grpSpPr>
        <p:sp>
          <p:nvSpPr>
            <p:cNvPr id="68" name="Freeform 9"/>
            <p:cNvSpPr/>
            <p:nvPr/>
          </p:nvSpPr>
          <p:spPr>
            <a:xfrm>
              <a:off x="8378280" y="5474160"/>
              <a:ext cx="535680" cy="535680"/>
            </a:xfrm>
            <a:custGeom>
              <a:avLst/>
              <a:gdLst>
                <a:gd name="textAreaLeft" fmla="*/ 0 w 535680"/>
                <a:gd name="textAreaRight" fmla="*/ 537480 w 535680"/>
                <a:gd name="textAreaTop" fmla="*/ 0 h 535680"/>
                <a:gd name="textAreaBottom" fmla="*/ 537480 h 535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00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" name="TextBox 10"/>
            <p:cNvSpPr/>
            <p:nvPr/>
          </p:nvSpPr>
          <p:spPr>
            <a:xfrm>
              <a:off x="8428680" y="5486760"/>
              <a:ext cx="434880" cy="47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322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0" name="Group 11"/>
          <p:cNvGrpSpPr/>
          <p:nvPr/>
        </p:nvGrpSpPr>
        <p:grpSpPr>
          <a:xfrm>
            <a:off x="10639800" y="5474160"/>
            <a:ext cx="535680" cy="535680"/>
            <a:chOff x="10639800" y="5474160"/>
            <a:chExt cx="535680" cy="535680"/>
          </a:xfrm>
        </p:grpSpPr>
        <p:sp>
          <p:nvSpPr>
            <p:cNvPr id="71" name="Freeform 12"/>
            <p:cNvSpPr/>
            <p:nvPr/>
          </p:nvSpPr>
          <p:spPr>
            <a:xfrm>
              <a:off x="10639800" y="5474160"/>
              <a:ext cx="535680" cy="535680"/>
            </a:xfrm>
            <a:custGeom>
              <a:avLst/>
              <a:gdLst>
                <a:gd name="textAreaLeft" fmla="*/ 0 w 535680"/>
                <a:gd name="textAreaRight" fmla="*/ 537480 w 535680"/>
                <a:gd name="textAreaTop" fmla="*/ 0 h 535680"/>
                <a:gd name="textAreaBottom" fmla="*/ 537480 h 535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4b7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" name="TextBox 13"/>
            <p:cNvSpPr/>
            <p:nvPr/>
          </p:nvSpPr>
          <p:spPr>
            <a:xfrm>
              <a:off x="10690200" y="5486760"/>
              <a:ext cx="434880" cy="47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322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3" name="Group 14"/>
          <p:cNvGrpSpPr/>
          <p:nvPr/>
        </p:nvGrpSpPr>
        <p:grpSpPr>
          <a:xfrm>
            <a:off x="12901320" y="5474160"/>
            <a:ext cx="535680" cy="535680"/>
            <a:chOff x="12901320" y="5474160"/>
            <a:chExt cx="535680" cy="535680"/>
          </a:xfrm>
        </p:grpSpPr>
        <p:sp>
          <p:nvSpPr>
            <p:cNvPr id="74" name="Freeform 15"/>
            <p:cNvSpPr/>
            <p:nvPr/>
          </p:nvSpPr>
          <p:spPr>
            <a:xfrm>
              <a:off x="12901320" y="5474160"/>
              <a:ext cx="535680" cy="535680"/>
            </a:xfrm>
            <a:custGeom>
              <a:avLst/>
              <a:gdLst>
                <a:gd name="textAreaLeft" fmla="*/ 0 w 535680"/>
                <a:gd name="textAreaRight" fmla="*/ 537480 w 535680"/>
                <a:gd name="textAreaTop" fmla="*/ 0 h 535680"/>
                <a:gd name="textAreaBottom" fmla="*/ 537480 h 535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2b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" name="TextBox 16"/>
            <p:cNvSpPr/>
            <p:nvPr/>
          </p:nvSpPr>
          <p:spPr>
            <a:xfrm>
              <a:off x="12951720" y="5486760"/>
              <a:ext cx="434880" cy="47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322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6" name="Group 17"/>
          <p:cNvGrpSpPr/>
          <p:nvPr/>
        </p:nvGrpSpPr>
        <p:grpSpPr>
          <a:xfrm>
            <a:off x="1586520" y="5474160"/>
            <a:ext cx="535680" cy="535680"/>
            <a:chOff x="1586520" y="5474160"/>
            <a:chExt cx="535680" cy="535680"/>
          </a:xfrm>
        </p:grpSpPr>
        <p:grpSp>
          <p:nvGrpSpPr>
            <p:cNvPr id="77" name="Group 18"/>
            <p:cNvGrpSpPr/>
            <p:nvPr/>
          </p:nvGrpSpPr>
          <p:grpSpPr>
            <a:xfrm>
              <a:off x="1586520" y="5474160"/>
              <a:ext cx="535680" cy="535680"/>
              <a:chOff x="1586520" y="5474160"/>
              <a:chExt cx="535680" cy="535680"/>
            </a:xfrm>
          </p:grpSpPr>
          <p:sp>
            <p:nvSpPr>
              <p:cNvPr id="78" name="Freeform 19"/>
              <p:cNvSpPr/>
              <p:nvPr/>
            </p:nvSpPr>
            <p:spPr>
              <a:xfrm>
                <a:off x="1586520" y="5474160"/>
                <a:ext cx="535680" cy="535680"/>
              </a:xfrm>
              <a:custGeom>
                <a:avLst/>
                <a:gdLst>
                  <a:gd name="textAreaLeft" fmla="*/ 0 w 535680"/>
                  <a:gd name="textAreaRight" fmla="*/ 537480 w 535680"/>
                  <a:gd name="textAreaTop" fmla="*/ 0 h 535680"/>
                  <a:gd name="textAreaBottom" fmla="*/ 537480 h 53568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90a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9" name="TextBox 20"/>
              <p:cNvSpPr/>
              <p:nvPr/>
            </p:nvSpPr>
            <p:spPr>
              <a:xfrm>
                <a:off x="1636920" y="5486760"/>
                <a:ext cx="434880" cy="472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322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80" name="TextBox 21"/>
            <p:cNvSpPr/>
            <p:nvPr/>
          </p:nvSpPr>
          <p:spPr>
            <a:xfrm>
              <a:off x="1586520" y="5613840"/>
              <a:ext cx="535680" cy="25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032"/>
                </a:lnSpc>
              </a:pPr>
              <a:r>
                <a:rPr b="1" lang="en-US" sz="1700" spc="-1" strike="noStrike">
                  <a:solidFill>
                    <a:srgbClr val="ffffff"/>
                  </a:solidFill>
                  <a:latin typeface="HK Grotesk Medium"/>
                  <a:ea typeface="HK Grotesk Medium"/>
                </a:rPr>
                <a:t>01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" name="Group 22"/>
          <p:cNvGrpSpPr/>
          <p:nvPr/>
        </p:nvGrpSpPr>
        <p:grpSpPr>
          <a:xfrm>
            <a:off x="1251000" y="3359160"/>
            <a:ext cx="1318320" cy="1318320"/>
            <a:chOff x="1251000" y="3359160"/>
            <a:chExt cx="1318320" cy="1318320"/>
          </a:xfrm>
        </p:grpSpPr>
        <p:sp>
          <p:nvSpPr>
            <p:cNvPr id="82" name="Freeform 23"/>
            <p:cNvSpPr/>
            <p:nvPr/>
          </p:nvSpPr>
          <p:spPr>
            <a:xfrm>
              <a:off x="1251000" y="3359160"/>
              <a:ext cx="1318320" cy="1318320"/>
            </a:xfrm>
            <a:custGeom>
              <a:avLst/>
              <a:gdLst>
                <a:gd name="textAreaLeft" fmla="*/ 0 w 1318320"/>
                <a:gd name="textAreaRight" fmla="*/ 1320120 w 1318320"/>
                <a:gd name="textAreaTop" fmla="*/ 0 h 1318320"/>
                <a:gd name="textAreaBottom" fmla="*/ 1320120 h 13183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90a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" name="TextBox 24"/>
            <p:cNvSpPr/>
            <p:nvPr/>
          </p:nvSpPr>
          <p:spPr>
            <a:xfrm>
              <a:off x="1374840" y="3467160"/>
              <a:ext cx="1070640" cy="108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4" name="Group 25"/>
          <p:cNvGrpSpPr/>
          <p:nvPr/>
        </p:nvGrpSpPr>
        <p:grpSpPr>
          <a:xfrm>
            <a:off x="1406880" y="3511440"/>
            <a:ext cx="1013400" cy="1013400"/>
            <a:chOff x="1406880" y="3511440"/>
            <a:chExt cx="1013400" cy="1013400"/>
          </a:xfrm>
        </p:grpSpPr>
        <p:sp>
          <p:nvSpPr>
            <p:cNvPr id="85" name="Freeform 26"/>
            <p:cNvSpPr/>
            <p:nvPr/>
          </p:nvSpPr>
          <p:spPr>
            <a:xfrm>
              <a:off x="1406880" y="3511440"/>
              <a:ext cx="1013400" cy="1013400"/>
            </a:xfrm>
            <a:custGeom>
              <a:avLst/>
              <a:gdLst>
                <a:gd name="textAreaLeft" fmla="*/ 0 w 1013400"/>
                <a:gd name="textAreaRight" fmla="*/ 1015200 w 1013400"/>
                <a:gd name="textAreaTop" fmla="*/ 0 h 1013400"/>
                <a:gd name="textAreaBottom" fmla="*/ 1015200 h 10134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TextBox 27"/>
            <p:cNvSpPr/>
            <p:nvPr/>
          </p:nvSpPr>
          <p:spPr>
            <a:xfrm>
              <a:off x="1501920" y="3594960"/>
              <a:ext cx="822960" cy="83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7" name="Group 28"/>
          <p:cNvGrpSpPr/>
          <p:nvPr/>
        </p:nvGrpSpPr>
        <p:grpSpPr>
          <a:xfrm>
            <a:off x="3451320" y="3359160"/>
            <a:ext cx="1318320" cy="1318320"/>
            <a:chOff x="3451320" y="3359160"/>
            <a:chExt cx="1318320" cy="1318320"/>
          </a:xfrm>
        </p:grpSpPr>
        <p:sp>
          <p:nvSpPr>
            <p:cNvPr id="88" name="Freeform 29"/>
            <p:cNvSpPr/>
            <p:nvPr/>
          </p:nvSpPr>
          <p:spPr>
            <a:xfrm>
              <a:off x="3451320" y="3359160"/>
              <a:ext cx="1318320" cy="1318320"/>
            </a:xfrm>
            <a:custGeom>
              <a:avLst/>
              <a:gdLst>
                <a:gd name="textAreaLeft" fmla="*/ 0 w 1318320"/>
                <a:gd name="textAreaRight" fmla="*/ 1320120 w 1318320"/>
                <a:gd name="textAreaTop" fmla="*/ 0 h 1318320"/>
                <a:gd name="textAreaBottom" fmla="*/ 1320120 h 13183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5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" name="TextBox 30"/>
            <p:cNvSpPr/>
            <p:nvPr/>
          </p:nvSpPr>
          <p:spPr>
            <a:xfrm>
              <a:off x="3575160" y="3467160"/>
              <a:ext cx="1070640" cy="108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0" name="Group 31"/>
          <p:cNvGrpSpPr/>
          <p:nvPr/>
        </p:nvGrpSpPr>
        <p:grpSpPr>
          <a:xfrm>
            <a:off x="3600360" y="3511440"/>
            <a:ext cx="1013400" cy="1013400"/>
            <a:chOff x="3600360" y="3511440"/>
            <a:chExt cx="1013400" cy="1013400"/>
          </a:xfrm>
        </p:grpSpPr>
        <p:sp>
          <p:nvSpPr>
            <p:cNvPr id="91" name="Freeform 32"/>
            <p:cNvSpPr/>
            <p:nvPr/>
          </p:nvSpPr>
          <p:spPr>
            <a:xfrm>
              <a:off x="3600360" y="3511440"/>
              <a:ext cx="1013400" cy="1013400"/>
            </a:xfrm>
            <a:custGeom>
              <a:avLst/>
              <a:gdLst>
                <a:gd name="textAreaLeft" fmla="*/ 0 w 1013400"/>
                <a:gd name="textAreaRight" fmla="*/ 1015200 w 1013400"/>
                <a:gd name="textAreaTop" fmla="*/ 0 h 1013400"/>
                <a:gd name="textAreaBottom" fmla="*/ 1015200 h 10134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TextBox 33"/>
            <p:cNvSpPr/>
            <p:nvPr/>
          </p:nvSpPr>
          <p:spPr>
            <a:xfrm>
              <a:off x="3695400" y="3594960"/>
              <a:ext cx="822960" cy="83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3" name="Group 34"/>
          <p:cNvGrpSpPr/>
          <p:nvPr/>
        </p:nvGrpSpPr>
        <p:grpSpPr>
          <a:xfrm>
            <a:off x="5725440" y="3359160"/>
            <a:ext cx="1318320" cy="1318320"/>
            <a:chOff x="5725440" y="3359160"/>
            <a:chExt cx="1318320" cy="1318320"/>
          </a:xfrm>
        </p:grpSpPr>
        <p:sp>
          <p:nvSpPr>
            <p:cNvPr id="94" name="Freeform 35"/>
            <p:cNvSpPr/>
            <p:nvPr/>
          </p:nvSpPr>
          <p:spPr>
            <a:xfrm>
              <a:off x="5725440" y="3359160"/>
              <a:ext cx="1318320" cy="1318320"/>
            </a:xfrm>
            <a:custGeom>
              <a:avLst/>
              <a:gdLst>
                <a:gd name="textAreaLeft" fmla="*/ 0 w 1318320"/>
                <a:gd name="textAreaRight" fmla="*/ 1320120 w 1318320"/>
                <a:gd name="textAreaTop" fmla="*/ 0 h 1318320"/>
                <a:gd name="textAreaBottom" fmla="*/ 1320120 h 13183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TextBox 36"/>
            <p:cNvSpPr/>
            <p:nvPr/>
          </p:nvSpPr>
          <p:spPr>
            <a:xfrm>
              <a:off x="5848920" y="3467160"/>
              <a:ext cx="1070640" cy="108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6" name="Group 37"/>
          <p:cNvGrpSpPr/>
          <p:nvPr/>
        </p:nvGrpSpPr>
        <p:grpSpPr>
          <a:xfrm>
            <a:off x="5874480" y="3511440"/>
            <a:ext cx="1013400" cy="1013400"/>
            <a:chOff x="5874480" y="3511440"/>
            <a:chExt cx="1013400" cy="1013400"/>
          </a:xfrm>
        </p:grpSpPr>
        <p:sp>
          <p:nvSpPr>
            <p:cNvPr id="97" name="Freeform 38"/>
            <p:cNvSpPr/>
            <p:nvPr/>
          </p:nvSpPr>
          <p:spPr>
            <a:xfrm>
              <a:off x="5874480" y="3511440"/>
              <a:ext cx="1013400" cy="1013400"/>
            </a:xfrm>
            <a:custGeom>
              <a:avLst/>
              <a:gdLst>
                <a:gd name="textAreaLeft" fmla="*/ 0 w 1013400"/>
                <a:gd name="textAreaRight" fmla="*/ 1015200 w 1013400"/>
                <a:gd name="textAreaTop" fmla="*/ 0 h 1013400"/>
                <a:gd name="textAreaBottom" fmla="*/ 1015200 h 10134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TextBox 39"/>
            <p:cNvSpPr/>
            <p:nvPr/>
          </p:nvSpPr>
          <p:spPr>
            <a:xfrm>
              <a:off x="5969520" y="3594960"/>
              <a:ext cx="822960" cy="83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9" name="Group 40"/>
          <p:cNvGrpSpPr/>
          <p:nvPr/>
        </p:nvGrpSpPr>
        <p:grpSpPr>
          <a:xfrm>
            <a:off x="7973280" y="3359160"/>
            <a:ext cx="1318320" cy="1318320"/>
            <a:chOff x="7973280" y="3359160"/>
            <a:chExt cx="1318320" cy="1318320"/>
          </a:xfrm>
        </p:grpSpPr>
        <p:sp>
          <p:nvSpPr>
            <p:cNvPr id="100" name="Freeform 41"/>
            <p:cNvSpPr/>
            <p:nvPr/>
          </p:nvSpPr>
          <p:spPr>
            <a:xfrm>
              <a:off x="7973280" y="3359160"/>
              <a:ext cx="1318320" cy="1318320"/>
            </a:xfrm>
            <a:custGeom>
              <a:avLst/>
              <a:gdLst>
                <a:gd name="textAreaLeft" fmla="*/ 0 w 1318320"/>
                <a:gd name="textAreaRight" fmla="*/ 1320120 w 1318320"/>
                <a:gd name="textAreaTop" fmla="*/ 0 h 1318320"/>
                <a:gd name="textAreaBottom" fmla="*/ 1320120 h 13183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00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" name="TextBox 42"/>
            <p:cNvSpPr/>
            <p:nvPr/>
          </p:nvSpPr>
          <p:spPr>
            <a:xfrm>
              <a:off x="8096760" y="3467160"/>
              <a:ext cx="1070640" cy="108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2" name="Group 43"/>
          <p:cNvGrpSpPr/>
          <p:nvPr/>
        </p:nvGrpSpPr>
        <p:grpSpPr>
          <a:xfrm>
            <a:off x="8122320" y="3511440"/>
            <a:ext cx="1013400" cy="1013400"/>
            <a:chOff x="8122320" y="3511440"/>
            <a:chExt cx="1013400" cy="1013400"/>
          </a:xfrm>
        </p:grpSpPr>
        <p:sp>
          <p:nvSpPr>
            <p:cNvPr id="103" name="Freeform 44"/>
            <p:cNvSpPr/>
            <p:nvPr/>
          </p:nvSpPr>
          <p:spPr>
            <a:xfrm>
              <a:off x="8122320" y="3511440"/>
              <a:ext cx="1013400" cy="1013400"/>
            </a:xfrm>
            <a:custGeom>
              <a:avLst/>
              <a:gdLst>
                <a:gd name="textAreaLeft" fmla="*/ 0 w 1013400"/>
                <a:gd name="textAreaRight" fmla="*/ 1015200 w 1013400"/>
                <a:gd name="textAreaTop" fmla="*/ 0 h 1013400"/>
                <a:gd name="textAreaBottom" fmla="*/ 1015200 h 10134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TextBox 45"/>
            <p:cNvSpPr/>
            <p:nvPr/>
          </p:nvSpPr>
          <p:spPr>
            <a:xfrm>
              <a:off x="8217360" y="3594960"/>
              <a:ext cx="822960" cy="83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5" name="Group 46"/>
          <p:cNvGrpSpPr/>
          <p:nvPr/>
        </p:nvGrpSpPr>
        <p:grpSpPr>
          <a:xfrm>
            <a:off x="10221480" y="3359160"/>
            <a:ext cx="1318320" cy="1318320"/>
            <a:chOff x="10221480" y="3359160"/>
            <a:chExt cx="1318320" cy="1318320"/>
          </a:xfrm>
        </p:grpSpPr>
        <p:sp>
          <p:nvSpPr>
            <p:cNvPr id="106" name="Freeform 47"/>
            <p:cNvSpPr/>
            <p:nvPr/>
          </p:nvSpPr>
          <p:spPr>
            <a:xfrm>
              <a:off x="10221480" y="3359160"/>
              <a:ext cx="1318320" cy="1318320"/>
            </a:xfrm>
            <a:custGeom>
              <a:avLst/>
              <a:gdLst>
                <a:gd name="textAreaLeft" fmla="*/ 0 w 1318320"/>
                <a:gd name="textAreaRight" fmla="*/ 1320120 w 1318320"/>
                <a:gd name="textAreaTop" fmla="*/ 0 h 1318320"/>
                <a:gd name="textAreaBottom" fmla="*/ 1320120 h 13183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4b7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" name="TextBox 48"/>
            <p:cNvSpPr/>
            <p:nvPr/>
          </p:nvSpPr>
          <p:spPr>
            <a:xfrm>
              <a:off x="10345320" y="3467160"/>
              <a:ext cx="1070640" cy="108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8" name="Group 49"/>
          <p:cNvGrpSpPr/>
          <p:nvPr/>
        </p:nvGrpSpPr>
        <p:grpSpPr>
          <a:xfrm>
            <a:off x="10370520" y="3511440"/>
            <a:ext cx="1013400" cy="1013400"/>
            <a:chOff x="10370520" y="3511440"/>
            <a:chExt cx="1013400" cy="1013400"/>
          </a:xfrm>
        </p:grpSpPr>
        <p:sp>
          <p:nvSpPr>
            <p:cNvPr id="109" name="Freeform 50"/>
            <p:cNvSpPr/>
            <p:nvPr/>
          </p:nvSpPr>
          <p:spPr>
            <a:xfrm>
              <a:off x="10370520" y="3511440"/>
              <a:ext cx="1013400" cy="1013400"/>
            </a:xfrm>
            <a:custGeom>
              <a:avLst/>
              <a:gdLst>
                <a:gd name="textAreaLeft" fmla="*/ 0 w 1013400"/>
                <a:gd name="textAreaRight" fmla="*/ 1015200 w 1013400"/>
                <a:gd name="textAreaTop" fmla="*/ 0 h 1013400"/>
                <a:gd name="textAreaBottom" fmla="*/ 1015200 h 10134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TextBox 51"/>
            <p:cNvSpPr/>
            <p:nvPr/>
          </p:nvSpPr>
          <p:spPr>
            <a:xfrm>
              <a:off x="10465560" y="3594960"/>
              <a:ext cx="822960" cy="83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1" name="Group 52"/>
          <p:cNvGrpSpPr/>
          <p:nvPr/>
        </p:nvGrpSpPr>
        <p:grpSpPr>
          <a:xfrm>
            <a:off x="12527640" y="3359160"/>
            <a:ext cx="1318320" cy="1318320"/>
            <a:chOff x="12527640" y="3359160"/>
            <a:chExt cx="1318320" cy="1318320"/>
          </a:xfrm>
        </p:grpSpPr>
        <p:sp>
          <p:nvSpPr>
            <p:cNvPr id="112" name="Freeform 53"/>
            <p:cNvSpPr/>
            <p:nvPr/>
          </p:nvSpPr>
          <p:spPr>
            <a:xfrm>
              <a:off x="12527640" y="3359160"/>
              <a:ext cx="1318320" cy="1318320"/>
            </a:xfrm>
            <a:custGeom>
              <a:avLst/>
              <a:gdLst>
                <a:gd name="textAreaLeft" fmla="*/ 0 w 1318320"/>
                <a:gd name="textAreaRight" fmla="*/ 1320120 w 1318320"/>
                <a:gd name="textAreaTop" fmla="*/ 0 h 1318320"/>
                <a:gd name="textAreaBottom" fmla="*/ 1320120 h 13183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2b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" name="TextBox 54"/>
            <p:cNvSpPr/>
            <p:nvPr/>
          </p:nvSpPr>
          <p:spPr>
            <a:xfrm>
              <a:off x="12651120" y="3467160"/>
              <a:ext cx="1070640" cy="108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4" name="Group 55"/>
          <p:cNvGrpSpPr/>
          <p:nvPr/>
        </p:nvGrpSpPr>
        <p:grpSpPr>
          <a:xfrm>
            <a:off x="12676680" y="3511440"/>
            <a:ext cx="1013400" cy="1013400"/>
            <a:chOff x="12676680" y="3511440"/>
            <a:chExt cx="1013400" cy="1013400"/>
          </a:xfrm>
        </p:grpSpPr>
        <p:sp>
          <p:nvSpPr>
            <p:cNvPr id="115" name="Freeform 56"/>
            <p:cNvSpPr/>
            <p:nvPr/>
          </p:nvSpPr>
          <p:spPr>
            <a:xfrm>
              <a:off x="12676680" y="3511440"/>
              <a:ext cx="1013400" cy="1013400"/>
            </a:xfrm>
            <a:custGeom>
              <a:avLst/>
              <a:gdLst>
                <a:gd name="textAreaLeft" fmla="*/ 0 w 1013400"/>
                <a:gd name="textAreaRight" fmla="*/ 1015200 w 1013400"/>
                <a:gd name="textAreaTop" fmla="*/ 0 h 1013400"/>
                <a:gd name="textAreaBottom" fmla="*/ 1015200 h 10134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TextBox 57"/>
            <p:cNvSpPr/>
            <p:nvPr/>
          </p:nvSpPr>
          <p:spPr>
            <a:xfrm>
              <a:off x="12771720" y="3594960"/>
              <a:ext cx="822960" cy="83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7" name="Freeform 58"/>
          <p:cNvSpPr/>
          <p:nvPr/>
        </p:nvSpPr>
        <p:spPr>
          <a:xfrm>
            <a:off x="2948040" y="3904200"/>
            <a:ext cx="131040" cy="228240"/>
          </a:xfrm>
          <a:custGeom>
            <a:avLst/>
            <a:gdLst>
              <a:gd name="textAreaLeft" fmla="*/ 0 w 131040"/>
              <a:gd name="textAreaRight" fmla="*/ 132840 w 131040"/>
              <a:gd name="textAreaTop" fmla="*/ 0 h 228240"/>
              <a:gd name="textAreaBottom" fmla="*/ 230040 h 228240"/>
            </a:gdLst>
            <a:ahLst/>
            <a:rect l="textAreaLeft" t="textAreaTop" r="textAreaRight" b="textAreaBottom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Freeform 59"/>
          <p:cNvSpPr/>
          <p:nvPr/>
        </p:nvSpPr>
        <p:spPr>
          <a:xfrm>
            <a:off x="5181840" y="3904200"/>
            <a:ext cx="131040" cy="228240"/>
          </a:xfrm>
          <a:custGeom>
            <a:avLst/>
            <a:gdLst>
              <a:gd name="textAreaLeft" fmla="*/ 0 w 131040"/>
              <a:gd name="textAreaRight" fmla="*/ 132840 w 131040"/>
              <a:gd name="textAreaTop" fmla="*/ 0 h 228240"/>
              <a:gd name="textAreaBottom" fmla="*/ 230040 h 228240"/>
            </a:gdLst>
            <a:ahLst/>
            <a:rect l="textAreaLeft" t="textAreaTop" r="textAreaRight" b="textAreaBottom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Freeform 60"/>
          <p:cNvSpPr/>
          <p:nvPr/>
        </p:nvSpPr>
        <p:spPr>
          <a:xfrm>
            <a:off x="7443000" y="3845520"/>
            <a:ext cx="131040" cy="228240"/>
          </a:xfrm>
          <a:custGeom>
            <a:avLst/>
            <a:gdLst>
              <a:gd name="textAreaLeft" fmla="*/ 0 w 131040"/>
              <a:gd name="textAreaRight" fmla="*/ 132840 w 131040"/>
              <a:gd name="textAreaTop" fmla="*/ 0 h 228240"/>
              <a:gd name="textAreaBottom" fmla="*/ 230040 h 228240"/>
            </a:gdLst>
            <a:ahLst/>
            <a:rect l="textAreaLeft" t="textAreaTop" r="textAreaRight" b="textAreaBottom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Freeform 61"/>
          <p:cNvSpPr/>
          <p:nvPr/>
        </p:nvSpPr>
        <p:spPr>
          <a:xfrm>
            <a:off x="9664560" y="3789360"/>
            <a:ext cx="131040" cy="228240"/>
          </a:xfrm>
          <a:custGeom>
            <a:avLst/>
            <a:gdLst>
              <a:gd name="textAreaLeft" fmla="*/ 0 w 131040"/>
              <a:gd name="textAreaRight" fmla="*/ 132840 w 131040"/>
              <a:gd name="textAreaTop" fmla="*/ 0 h 228240"/>
              <a:gd name="textAreaBottom" fmla="*/ 230040 h 228240"/>
            </a:gdLst>
            <a:ahLst/>
            <a:rect l="textAreaLeft" t="textAreaTop" r="textAreaRight" b="textAreaBottom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Freeform 62"/>
          <p:cNvSpPr/>
          <p:nvPr/>
        </p:nvSpPr>
        <p:spPr>
          <a:xfrm>
            <a:off x="11968200" y="3789360"/>
            <a:ext cx="131040" cy="228240"/>
          </a:xfrm>
          <a:custGeom>
            <a:avLst/>
            <a:gdLst>
              <a:gd name="textAreaLeft" fmla="*/ 0 w 131040"/>
              <a:gd name="textAreaRight" fmla="*/ 132840 w 131040"/>
              <a:gd name="textAreaTop" fmla="*/ 0 h 228240"/>
              <a:gd name="textAreaBottom" fmla="*/ 230040 h 228240"/>
            </a:gdLst>
            <a:ahLst/>
            <a:rect l="textAreaLeft" t="textAreaTop" r="textAreaRight" b="textAreaBottom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AutoShape 63"/>
          <p:cNvSpPr/>
          <p:nvPr/>
        </p:nvSpPr>
        <p:spPr>
          <a:xfrm flipV="1">
            <a:off x="1876320" y="4678200"/>
            <a:ext cx="360" cy="795600"/>
          </a:xfrm>
          <a:prstGeom prst="line">
            <a:avLst/>
          </a:prstGeom>
          <a:ln w="19050">
            <a:solidFill>
              <a:srgbClr val="000000">
                <a:alpha val="10000"/>
              </a:srgbClr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AutoShape 64"/>
          <p:cNvSpPr/>
          <p:nvPr/>
        </p:nvSpPr>
        <p:spPr>
          <a:xfrm flipV="1">
            <a:off x="4109400" y="4678920"/>
            <a:ext cx="360" cy="795960"/>
          </a:xfrm>
          <a:prstGeom prst="line">
            <a:avLst/>
          </a:prstGeom>
          <a:ln w="19050">
            <a:solidFill>
              <a:srgbClr val="000000">
                <a:alpha val="10000"/>
              </a:srgbClr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AutoShape 65"/>
          <p:cNvSpPr/>
          <p:nvPr/>
        </p:nvSpPr>
        <p:spPr>
          <a:xfrm flipV="1">
            <a:off x="6399360" y="4672080"/>
            <a:ext cx="360" cy="795960"/>
          </a:xfrm>
          <a:prstGeom prst="line">
            <a:avLst/>
          </a:prstGeom>
          <a:ln w="19050">
            <a:solidFill>
              <a:srgbClr val="000000">
                <a:alpha val="10000"/>
              </a:srgbClr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AutoShape 66"/>
          <p:cNvSpPr/>
          <p:nvPr/>
        </p:nvSpPr>
        <p:spPr>
          <a:xfrm flipV="1">
            <a:off x="8629560" y="4672080"/>
            <a:ext cx="360" cy="795960"/>
          </a:xfrm>
          <a:prstGeom prst="line">
            <a:avLst/>
          </a:prstGeom>
          <a:ln w="19050">
            <a:solidFill>
              <a:srgbClr val="000000">
                <a:alpha val="10000"/>
              </a:srgbClr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AutoShape 67"/>
          <p:cNvSpPr/>
          <p:nvPr/>
        </p:nvSpPr>
        <p:spPr>
          <a:xfrm flipV="1">
            <a:off x="10922400" y="4672080"/>
            <a:ext cx="360" cy="795960"/>
          </a:xfrm>
          <a:prstGeom prst="line">
            <a:avLst/>
          </a:prstGeom>
          <a:ln w="19050">
            <a:solidFill>
              <a:srgbClr val="000000">
                <a:alpha val="10000"/>
              </a:srgbClr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AutoShape 68"/>
          <p:cNvSpPr/>
          <p:nvPr/>
        </p:nvSpPr>
        <p:spPr>
          <a:xfrm flipV="1">
            <a:off x="13184280" y="4672080"/>
            <a:ext cx="360" cy="795960"/>
          </a:xfrm>
          <a:prstGeom prst="line">
            <a:avLst/>
          </a:prstGeom>
          <a:ln w="19050">
            <a:solidFill>
              <a:srgbClr val="000000">
                <a:alpha val="10000"/>
              </a:srgbClr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Freeform 69"/>
          <p:cNvSpPr/>
          <p:nvPr/>
        </p:nvSpPr>
        <p:spPr>
          <a:xfrm>
            <a:off x="1730160" y="3628080"/>
            <a:ext cx="392040" cy="780480"/>
          </a:xfrm>
          <a:custGeom>
            <a:avLst/>
            <a:gdLst>
              <a:gd name="textAreaLeft" fmla="*/ 0 w 392040"/>
              <a:gd name="textAreaRight" fmla="*/ 393840 w 392040"/>
              <a:gd name="textAreaTop" fmla="*/ 0 h 780480"/>
              <a:gd name="textAreaBottom" fmla="*/ 782280 h 780480"/>
            </a:gdLst>
            <a:ahLst/>
            <a:rect l="textAreaLeft" t="textAreaTop" r="textAreaRight" b="textAreaBottom"/>
            <a:pathLst>
              <a:path w="393963" h="782238">
                <a:moveTo>
                  <a:pt x="0" y="0"/>
                </a:moveTo>
                <a:lnTo>
                  <a:pt x="393963" y="0"/>
                </a:lnTo>
                <a:lnTo>
                  <a:pt x="393963" y="782238"/>
                </a:lnTo>
                <a:lnTo>
                  <a:pt x="0" y="7822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Freeform 70"/>
          <p:cNvSpPr/>
          <p:nvPr/>
        </p:nvSpPr>
        <p:spPr>
          <a:xfrm>
            <a:off x="8359200" y="3773160"/>
            <a:ext cx="554760" cy="446040"/>
          </a:xfrm>
          <a:custGeom>
            <a:avLst/>
            <a:gdLst>
              <a:gd name="textAreaLeft" fmla="*/ 0 w 554760"/>
              <a:gd name="textAreaRight" fmla="*/ 556560 w 554760"/>
              <a:gd name="textAreaTop" fmla="*/ 0 h 446040"/>
              <a:gd name="textAreaBottom" fmla="*/ 447840 h 446040"/>
            </a:gdLst>
            <a:ahLst/>
            <a:rect l="textAreaLeft" t="textAreaTop" r="textAreaRight" b="textAreaBottom"/>
            <a:pathLst>
              <a:path w="556452" h="447903">
                <a:moveTo>
                  <a:pt x="0" y="0"/>
                </a:moveTo>
                <a:lnTo>
                  <a:pt x="556452" y="0"/>
                </a:lnTo>
                <a:lnTo>
                  <a:pt x="556452" y="447903"/>
                </a:lnTo>
                <a:lnTo>
                  <a:pt x="0" y="4479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Freeform 71"/>
          <p:cNvSpPr/>
          <p:nvPr/>
        </p:nvSpPr>
        <p:spPr>
          <a:xfrm>
            <a:off x="6094800" y="3789360"/>
            <a:ext cx="666720" cy="489240"/>
          </a:xfrm>
          <a:custGeom>
            <a:avLst/>
            <a:gdLst>
              <a:gd name="textAreaLeft" fmla="*/ 0 w 666720"/>
              <a:gd name="textAreaRight" fmla="*/ 668520 w 666720"/>
              <a:gd name="textAreaTop" fmla="*/ 0 h 489240"/>
              <a:gd name="textAreaBottom" fmla="*/ 491040 h 489240"/>
            </a:gdLst>
            <a:ahLst/>
            <a:rect l="textAreaLeft" t="textAreaTop" r="textAreaRight" b="textAreaBottom"/>
            <a:pathLst>
              <a:path w="668378" h="490954">
                <a:moveTo>
                  <a:pt x="0" y="0"/>
                </a:moveTo>
                <a:lnTo>
                  <a:pt x="668378" y="0"/>
                </a:lnTo>
                <a:lnTo>
                  <a:pt x="668378" y="490954"/>
                </a:lnTo>
                <a:lnTo>
                  <a:pt x="0" y="49095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1" name="Group 72"/>
          <p:cNvGrpSpPr/>
          <p:nvPr/>
        </p:nvGrpSpPr>
        <p:grpSpPr>
          <a:xfrm>
            <a:off x="15150960" y="5474160"/>
            <a:ext cx="535680" cy="535680"/>
            <a:chOff x="15150960" y="5474160"/>
            <a:chExt cx="535680" cy="535680"/>
          </a:xfrm>
        </p:grpSpPr>
        <p:sp>
          <p:nvSpPr>
            <p:cNvPr id="132" name="Freeform 73"/>
            <p:cNvSpPr/>
            <p:nvPr/>
          </p:nvSpPr>
          <p:spPr>
            <a:xfrm>
              <a:off x="15150960" y="5474160"/>
              <a:ext cx="535680" cy="535680"/>
            </a:xfrm>
            <a:custGeom>
              <a:avLst/>
              <a:gdLst>
                <a:gd name="textAreaLeft" fmla="*/ 0 w 535680"/>
                <a:gd name="textAreaRight" fmla="*/ 537480 w 535680"/>
                <a:gd name="textAreaTop" fmla="*/ 0 h 535680"/>
                <a:gd name="textAreaBottom" fmla="*/ 537480 h 535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820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" name="TextBox 74"/>
            <p:cNvSpPr/>
            <p:nvPr/>
          </p:nvSpPr>
          <p:spPr>
            <a:xfrm>
              <a:off x="15201360" y="5486760"/>
              <a:ext cx="434880" cy="47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322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4" name="Group 75"/>
          <p:cNvGrpSpPr/>
          <p:nvPr/>
        </p:nvGrpSpPr>
        <p:grpSpPr>
          <a:xfrm>
            <a:off x="14777280" y="3359160"/>
            <a:ext cx="1318320" cy="1318320"/>
            <a:chOff x="14777280" y="3359160"/>
            <a:chExt cx="1318320" cy="1318320"/>
          </a:xfrm>
        </p:grpSpPr>
        <p:sp>
          <p:nvSpPr>
            <p:cNvPr id="135" name="Freeform 76"/>
            <p:cNvSpPr/>
            <p:nvPr/>
          </p:nvSpPr>
          <p:spPr>
            <a:xfrm>
              <a:off x="14777280" y="3359160"/>
              <a:ext cx="1318320" cy="1318320"/>
            </a:xfrm>
            <a:custGeom>
              <a:avLst/>
              <a:gdLst>
                <a:gd name="textAreaLeft" fmla="*/ 0 w 1318320"/>
                <a:gd name="textAreaRight" fmla="*/ 1320120 w 1318320"/>
                <a:gd name="textAreaTop" fmla="*/ 0 h 1318320"/>
                <a:gd name="textAreaBottom" fmla="*/ 1320120 h 13183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820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" name="TextBox 77"/>
            <p:cNvSpPr/>
            <p:nvPr/>
          </p:nvSpPr>
          <p:spPr>
            <a:xfrm>
              <a:off x="14900760" y="3467160"/>
              <a:ext cx="1070640" cy="108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7" name="Group 78"/>
          <p:cNvGrpSpPr/>
          <p:nvPr/>
        </p:nvGrpSpPr>
        <p:grpSpPr>
          <a:xfrm>
            <a:off x="14926320" y="3511440"/>
            <a:ext cx="1013400" cy="1013400"/>
            <a:chOff x="14926320" y="3511440"/>
            <a:chExt cx="1013400" cy="1013400"/>
          </a:xfrm>
        </p:grpSpPr>
        <p:sp>
          <p:nvSpPr>
            <p:cNvPr id="138" name="Freeform 79"/>
            <p:cNvSpPr/>
            <p:nvPr/>
          </p:nvSpPr>
          <p:spPr>
            <a:xfrm>
              <a:off x="14926320" y="3511440"/>
              <a:ext cx="1013400" cy="1013400"/>
            </a:xfrm>
            <a:custGeom>
              <a:avLst/>
              <a:gdLst>
                <a:gd name="textAreaLeft" fmla="*/ 0 w 1013400"/>
                <a:gd name="textAreaRight" fmla="*/ 1015200 w 1013400"/>
                <a:gd name="textAreaTop" fmla="*/ 0 h 1013400"/>
                <a:gd name="textAreaBottom" fmla="*/ 1015200 h 10134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TextBox 80"/>
            <p:cNvSpPr/>
            <p:nvPr/>
          </p:nvSpPr>
          <p:spPr>
            <a:xfrm>
              <a:off x="15021360" y="3594960"/>
              <a:ext cx="822960" cy="83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713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0" name="Freeform 81"/>
          <p:cNvSpPr/>
          <p:nvPr/>
        </p:nvSpPr>
        <p:spPr>
          <a:xfrm>
            <a:off x="14217840" y="3789360"/>
            <a:ext cx="131040" cy="228240"/>
          </a:xfrm>
          <a:custGeom>
            <a:avLst/>
            <a:gdLst>
              <a:gd name="textAreaLeft" fmla="*/ 0 w 131040"/>
              <a:gd name="textAreaRight" fmla="*/ 132840 w 131040"/>
              <a:gd name="textAreaTop" fmla="*/ 0 h 228240"/>
              <a:gd name="textAreaBottom" fmla="*/ 230040 h 228240"/>
            </a:gdLst>
            <a:ahLst/>
            <a:rect l="textAreaLeft" t="textAreaTop" r="textAreaRight" b="textAreaBottom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AutoShape 82"/>
          <p:cNvSpPr/>
          <p:nvPr/>
        </p:nvSpPr>
        <p:spPr>
          <a:xfrm flipV="1">
            <a:off x="15433920" y="4672080"/>
            <a:ext cx="360" cy="795960"/>
          </a:xfrm>
          <a:prstGeom prst="line">
            <a:avLst/>
          </a:prstGeom>
          <a:ln w="19050">
            <a:solidFill>
              <a:srgbClr val="000000">
                <a:alpha val="10000"/>
              </a:srgbClr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Freeform 95"/>
          <p:cNvSpPr/>
          <p:nvPr/>
        </p:nvSpPr>
        <p:spPr>
          <a:xfrm>
            <a:off x="3767040" y="3596040"/>
            <a:ext cx="670320" cy="799920"/>
          </a:xfrm>
          <a:custGeom>
            <a:avLst/>
            <a:gdLst>
              <a:gd name="textAreaLeft" fmla="*/ 0 w 670320"/>
              <a:gd name="textAreaRight" fmla="*/ 672120 w 670320"/>
              <a:gd name="textAreaTop" fmla="*/ 0 h 799920"/>
              <a:gd name="textAreaBottom" fmla="*/ 801720 h 799920"/>
            </a:gdLst>
            <a:ahLst/>
            <a:rect l="textAreaLeft" t="textAreaTop" r="textAreaRight" b="textAreaBottom"/>
            <a:pathLst>
              <a:path w="672072" h="801822">
                <a:moveTo>
                  <a:pt x="0" y="0"/>
                </a:moveTo>
                <a:lnTo>
                  <a:pt x="672072" y="0"/>
                </a:lnTo>
                <a:lnTo>
                  <a:pt x="672072" y="801822"/>
                </a:lnTo>
                <a:lnTo>
                  <a:pt x="0" y="8018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Freeform 96"/>
          <p:cNvSpPr/>
          <p:nvPr/>
        </p:nvSpPr>
        <p:spPr>
          <a:xfrm>
            <a:off x="15127200" y="3724560"/>
            <a:ext cx="618480" cy="618480"/>
          </a:xfrm>
          <a:custGeom>
            <a:avLst/>
            <a:gdLst>
              <a:gd name="textAreaLeft" fmla="*/ 0 w 618480"/>
              <a:gd name="textAreaRight" fmla="*/ 620280 w 618480"/>
              <a:gd name="textAreaTop" fmla="*/ 0 h 618480"/>
              <a:gd name="textAreaBottom" fmla="*/ 620280 h 618480"/>
            </a:gdLst>
            <a:ahLst/>
            <a:rect l="textAreaLeft" t="textAreaTop" r="textAreaRight" b="textAreaBottom"/>
            <a:pathLst>
              <a:path w="620310" h="620310">
                <a:moveTo>
                  <a:pt x="0" y="0"/>
                </a:moveTo>
                <a:lnTo>
                  <a:pt x="620311" y="0"/>
                </a:lnTo>
                <a:lnTo>
                  <a:pt x="620311" y="620310"/>
                </a:lnTo>
                <a:lnTo>
                  <a:pt x="0" y="6203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Freeform 97"/>
          <p:cNvSpPr/>
          <p:nvPr/>
        </p:nvSpPr>
        <p:spPr>
          <a:xfrm>
            <a:off x="10578600" y="3773160"/>
            <a:ext cx="652320" cy="446760"/>
          </a:xfrm>
          <a:custGeom>
            <a:avLst/>
            <a:gdLst>
              <a:gd name="textAreaLeft" fmla="*/ 0 w 652320"/>
              <a:gd name="textAreaRight" fmla="*/ 654120 w 652320"/>
              <a:gd name="textAreaTop" fmla="*/ 0 h 446760"/>
              <a:gd name="textAreaBottom" fmla="*/ 448560 h 446760"/>
            </a:gdLst>
            <a:ahLst/>
            <a:rect l="textAreaLeft" t="textAreaTop" r="textAreaRight" b="textAreaBottom"/>
            <a:pathLst>
              <a:path w="654213" h="448433">
                <a:moveTo>
                  <a:pt x="0" y="0"/>
                </a:moveTo>
                <a:lnTo>
                  <a:pt x="654213" y="0"/>
                </a:lnTo>
                <a:lnTo>
                  <a:pt x="654213" y="448433"/>
                </a:lnTo>
                <a:lnTo>
                  <a:pt x="0" y="4484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Freeform 98"/>
          <p:cNvSpPr/>
          <p:nvPr/>
        </p:nvSpPr>
        <p:spPr>
          <a:xfrm>
            <a:off x="12935520" y="3641760"/>
            <a:ext cx="466920" cy="636480"/>
          </a:xfrm>
          <a:custGeom>
            <a:avLst/>
            <a:gdLst>
              <a:gd name="textAreaLeft" fmla="*/ 0 w 466920"/>
              <a:gd name="textAreaRight" fmla="*/ 468720 w 466920"/>
              <a:gd name="textAreaTop" fmla="*/ 0 h 636480"/>
              <a:gd name="textAreaBottom" fmla="*/ 638280 h 636480"/>
            </a:gdLst>
            <a:ahLst/>
            <a:rect l="textAreaLeft" t="textAreaTop" r="textAreaRight" b="textAreaBottom"/>
            <a:pathLst>
              <a:path w="468703" h="638415">
                <a:moveTo>
                  <a:pt x="0" y="0"/>
                </a:moveTo>
                <a:lnTo>
                  <a:pt x="468703" y="0"/>
                </a:lnTo>
                <a:lnTo>
                  <a:pt x="468703" y="638415"/>
                </a:lnTo>
                <a:lnTo>
                  <a:pt x="0" y="6384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99"/>
          <p:cNvSpPr/>
          <p:nvPr/>
        </p:nvSpPr>
        <p:spPr>
          <a:xfrm>
            <a:off x="3712320" y="1028880"/>
            <a:ext cx="10861560" cy="11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881"/>
              </a:lnSpc>
              <a:tabLst>
                <a:tab algn="l" pos="0"/>
              </a:tabLst>
            </a:pPr>
            <a:r>
              <a:rPr b="1" lang="en-US" sz="7400" spc="-1" strike="noStrike">
                <a:solidFill>
                  <a:srgbClr val="882028"/>
                </a:solidFill>
                <a:latin typeface="HK Grotesk Bold"/>
                <a:ea typeface="HK Grotesk Bold"/>
              </a:rPr>
              <a:t>Sommaire</a:t>
            </a:r>
            <a:endParaRPr b="0" lang="en-US" sz="7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100"/>
          <p:cNvSpPr/>
          <p:nvPr/>
        </p:nvSpPr>
        <p:spPr>
          <a:xfrm>
            <a:off x="16572960" y="8735760"/>
            <a:ext cx="254520" cy="87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860"/>
              </a:lnSpc>
            </a:pPr>
            <a:r>
              <a:rPr b="0" lang="en-US" sz="4900" spc="-1" strike="noStrike">
                <a:solidFill>
                  <a:srgbClr val="000000"/>
                </a:solidFill>
                <a:latin typeface="Allerta Stencil"/>
                <a:ea typeface="Allerta Stencil"/>
              </a:rPr>
              <a:t>1</a:t>
            </a: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01"/>
          <p:cNvSpPr/>
          <p:nvPr/>
        </p:nvSpPr>
        <p:spPr>
          <a:xfrm>
            <a:off x="9960480" y="6147360"/>
            <a:ext cx="189396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Georgia Pro"/>
                <a:ea typeface="Georgia Pro"/>
              </a:rPr>
              <a:t>Réalisation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02"/>
          <p:cNvSpPr/>
          <p:nvPr/>
        </p:nvSpPr>
        <p:spPr>
          <a:xfrm>
            <a:off x="914400" y="6147360"/>
            <a:ext cx="18939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Georgia Pro"/>
                <a:ea typeface="Georgia Pro"/>
              </a:rPr>
              <a:t>Contexte et problématique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103"/>
          <p:cNvSpPr/>
          <p:nvPr/>
        </p:nvSpPr>
        <p:spPr>
          <a:xfrm>
            <a:off x="3854880" y="5613840"/>
            <a:ext cx="53568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HK Grotesk Medium"/>
                <a:ea typeface="HK Grotesk Medium"/>
              </a:rPr>
              <a:t>02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04"/>
          <p:cNvSpPr/>
          <p:nvPr/>
        </p:nvSpPr>
        <p:spPr>
          <a:xfrm>
            <a:off x="3157200" y="6147360"/>
            <a:ext cx="207936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Georgia Pro"/>
                <a:ea typeface="Georgia Pro"/>
              </a:rPr>
              <a:t>Solution proposée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105"/>
          <p:cNvSpPr/>
          <p:nvPr/>
        </p:nvSpPr>
        <p:spPr>
          <a:xfrm>
            <a:off x="5481000" y="6147360"/>
            <a:ext cx="189396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Georgia Pro"/>
                <a:ea typeface="Georgia Pro"/>
              </a:rPr>
              <a:t>État de l’arts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106"/>
          <p:cNvSpPr/>
          <p:nvPr/>
        </p:nvSpPr>
        <p:spPr>
          <a:xfrm>
            <a:off x="7685280" y="6147360"/>
            <a:ext cx="189396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Georgia Pro"/>
                <a:ea typeface="Georgia Pro"/>
              </a:rPr>
              <a:t>Conception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07"/>
          <p:cNvSpPr/>
          <p:nvPr/>
        </p:nvSpPr>
        <p:spPr>
          <a:xfrm>
            <a:off x="12115800" y="6172200"/>
            <a:ext cx="189396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Georgia Pro"/>
                <a:ea typeface="Georgia Pro"/>
              </a:rPr>
              <a:t>Tests &amp; Résultats - Métriques + Performances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08"/>
          <p:cNvSpPr/>
          <p:nvPr/>
        </p:nvSpPr>
        <p:spPr>
          <a:xfrm>
            <a:off x="6116760" y="5613840"/>
            <a:ext cx="53568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HK Grotesk Medium"/>
                <a:ea typeface="HK Grotesk Medium"/>
              </a:rPr>
              <a:t>03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09"/>
          <p:cNvSpPr/>
          <p:nvPr/>
        </p:nvSpPr>
        <p:spPr>
          <a:xfrm>
            <a:off x="8378280" y="5613840"/>
            <a:ext cx="53568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HK Grotesk Medium"/>
                <a:ea typeface="HK Grotesk Medium"/>
              </a:rPr>
              <a:t>04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110"/>
          <p:cNvSpPr/>
          <p:nvPr/>
        </p:nvSpPr>
        <p:spPr>
          <a:xfrm>
            <a:off x="10639800" y="5613840"/>
            <a:ext cx="53568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HK Grotesk Medium"/>
                <a:ea typeface="HK Grotesk Medium"/>
              </a:rPr>
              <a:t>05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111"/>
          <p:cNvSpPr/>
          <p:nvPr/>
        </p:nvSpPr>
        <p:spPr>
          <a:xfrm>
            <a:off x="12901320" y="5613840"/>
            <a:ext cx="53568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HK Grotesk Medium"/>
                <a:ea typeface="HK Grotesk Medium"/>
              </a:rPr>
              <a:t>06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112"/>
          <p:cNvSpPr/>
          <p:nvPr/>
        </p:nvSpPr>
        <p:spPr>
          <a:xfrm>
            <a:off x="14485320" y="6147360"/>
            <a:ext cx="18939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Georgia Pro"/>
                <a:ea typeface="Georgia Pro"/>
              </a:rPr>
              <a:t>Limites et conclusion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113"/>
          <p:cNvSpPr/>
          <p:nvPr/>
        </p:nvSpPr>
        <p:spPr>
          <a:xfrm>
            <a:off x="15150960" y="5613840"/>
            <a:ext cx="53568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032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HK Grotesk Medium"/>
                <a:ea typeface="HK Grotesk Medium"/>
              </a:rPr>
              <a:t>07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2"/>
          <p:cNvSpPr/>
          <p:nvPr/>
        </p:nvSpPr>
        <p:spPr>
          <a:xfrm>
            <a:off x="914400" y="2989440"/>
            <a:ext cx="15774120" cy="67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83000" indent="-39132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630" spc="-1" strike="noStrike">
                <a:solidFill>
                  <a:srgbClr val="000000"/>
                </a:solidFill>
                <a:latin typeface="Georgia Pro"/>
                <a:ea typeface="Georgia Pro"/>
              </a:rPr>
              <a:t>Le pointage manuel : prend beaucoup de temps et peut contenir des erreurs ou des fraudes</a:t>
            </a: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  <a:p>
            <a:pPr lvl="1" marL="783000" indent="-39132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630" spc="-1" strike="noStrike">
                <a:solidFill>
                  <a:srgbClr val="000000"/>
                </a:solidFill>
                <a:latin typeface="Georgia Pro"/>
                <a:ea typeface="Georgia Pro"/>
              </a:rPr>
              <a:t>Des milliers d’étudiants à gérer dans les écoles</a:t>
            </a: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  <a:p>
            <a:pPr lvl="1" marL="783000" indent="-39132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630" spc="-1" strike="noStrike">
                <a:solidFill>
                  <a:srgbClr val="000000"/>
                </a:solidFill>
                <a:latin typeface="Georgia Pro"/>
                <a:ea typeface="Georgia Pro"/>
              </a:rPr>
              <a:t>Les appels des noms sont lents, difficiles à automatiser et parfois imprécis</a:t>
            </a: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  <a:p>
            <a:pPr lvl="1" marL="783000" indent="-39132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630" spc="-1" strike="noStrike">
                <a:solidFill>
                  <a:srgbClr val="000000"/>
                </a:solidFill>
                <a:latin typeface="Georgia Pro"/>
                <a:ea typeface="Georgia Pro"/>
              </a:rPr>
              <a:t>Besoin d’une solution automatique, fiable et facile à utiliser à grande échelle</a:t>
            </a: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  <a:p>
            <a:pPr lvl="1" marL="783000" indent="-39132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630" spc="-1" strike="noStrike">
                <a:solidFill>
                  <a:srgbClr val="000000"/>
                </a:solidFill>
                <a:latin typeface="Georgia Pro"/>
                <a:ea typeface="Georgia Pro"/>
              </a:rPr>
              <a:t>Question principale : comment enregistrer la présence en temps réel avec la reconnaissance faciale ?</a:t>
            </a: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1501200" y="485640"/>
            <a:ext cx="1622880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413"/>
              </a:lnSpc>
              <a:tabLst>
                <a:tab algn="l" pos="0"/>
              </a:tabLst>
            </a:pPr>
            <a:r>
              <a:rPr b="1" lang="en-US" sz="701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Contexte et problématique</a:t>
            </a:r>
            <a:endParaRPr b="0" lang="en-US" sz="7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16994520" y="9059760"/>
            <a:ext cx="81000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9"/>
              </a:lnSpc>
            </a:pPr>
            <a:r>
              <a:rPr b="0" lang="en-US" sz="5150" spc="398" strike="noStrike">
                <a:solidFill>
                  <a:srgbClr val="000000"/>
                </a:solidFill>
                <a:latin typeface="HK Grotesk"/>
                <a:ea typeface="HK Grotesk"/>
              </a:rPr>
              <a:t>2</a:t>
            </a:r>
            <a:endParaRPr b="0" lang="en-US" sz="5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2"/>
          <p:cNvSpPr/>
          <p:nvPr/>
        </p:nvSpPr>
        <p:spPr>
          <a:xfrm>
            <a:off x="1501200" y="485640"/>
            <a:ext cx="1622880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413"/>
              </a:lnSpc>
              <a:tabLst>
                <a:tab algn="l" pos="0"/>
              </a:tabLst>
            </a:pPr>
            <a:r>
              <a:rPr b="1" lang="en-US" sz="701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Solution proposée : EMSVIA</a:t>
            </a:r>
            <a:endParaRPr b="0" lang="en-US" sz="7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3"/>
          <p:cNvSpPr/>
          <p:nvPr/>
        </p:nvSpPr>
        <p:spPr>
          <a:xfrm>
            <a:off x="17190720" y="9153360"/>
            <a:ext cx="81000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9"/>
              </a:lnSpc>
            </a:pPr>
            <a:r>
              <a:rPr b="0" lang="en-US" sz="5150" spc="398" strike="noStrike">
                <a:solidFill>
                  <a:srgbClr val="000000"/>
                </a:solidFill>
                <a:latin typeface="Georgia Pro"/>
                <a:ea typeface="Georgia Pro"/>
              </a:rPr>
              <a:t>3</a:t>
            </a:r>
            <a:endParaRPr b="0" lang="en-US" sz="5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182"/>
          <p:cNvSpPr/>
          <p:nvPr/>
        </p:nvSpPr>
        <p:spPr>
          <a:xfrm>
            <a:off x="1972800" y="2743200"/>
            <a:ext cx="108216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6400" spc="-1" strike="noStrike">
                <a:solidFill>
                  <a:srgbClr val="882028"/>
                </a:solidFill>
                <a:latin typeface="Arial"/>
              </a:rPr>
              <a:t>01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183"/>
          <p:cNvSpPr/>
          <p:nvPr/>
        </p:nvSpPr>
        <p:spPr>
          <a:xfrm>
            <a:off x="1405800" y="3840480"/>
            <a:ext cx="22161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400" spc="-1" strike="noStrike">
                <a:solidFill>
                  <a:srgbClr val="000000"/>
                </a:solidFill>
                <a:latin typeface="Arial"/>
              </a:rPr>
              <a:t>Modèle IA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84"/>
          <p:cNvSpPr/>
          <p:nvPr/>
        </p:nvSpPr>
        <p:spPr>
          <a:xfrm>
            <a:off x="457200" y="4754880"/>
            <a:ext cx="4113360" cy="59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ArcFace + Facenet512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: reconnaissance faciale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Ensemble double-modèle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: deux modèles utilisés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Vote majoritaire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 : résultat le plus choisi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Embeddings 512-dim + L2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: comparaison des visages par données numériques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85"/>
          <p:cNvSpPr/>
          <p:nvPr/>
        </p:nvSpPr>
        <p:spPr>
          <a:xfrm>
            <a:off x="6453360" y="2743200"/>
            <a:ext cx="108216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6400" spc="-1" strike="noStrike">
                <a:solidFill>
                  <a:srgbClr val="882028"/>
                </a:solidFill>
                <a:latin typeface="Arial"/>
              </a:rPr>
              <a:t>02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86"/>
          <p:cNvSpPr/>
          <p:nvPr/>
        </p:nvSpPr>
        <p:spPr>
          <a:xfrm>
            <a:off x="5922000" y="3840480"/>
            <a:ext cx="21445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400" spc="-1" strike="noStrike">
                <a:solidFill>
                  <a:srgbClr val="000000"/>
                </a:solidFill>
                <a:latin typeface="Arial"/>
              </a:rPr>
              <a:t>Détection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187"/>
          <p:cNvSpPr/>
          <p:nvPr/>
        </p:nvSpPr>
        <p:spPr>
          <a:xfrm>
            <a:off x="4937760" y="4754880"/>
            <a:ext cx="4113360" cy="59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RetinaFace + SCRFD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: détection des visages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Tiling multi-échelle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 : découpage de l’image en 4 parties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NMS IoU 0.4 :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suppression des détections en double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Super-Résolution FSRCNN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: amélioration de la qualité de l’image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88"/>
          <p:cNvSpPr/>
          <p:nvPr/>
        </p:nvSpPr>
        <p:spPr>
          <a:xfrm>
            <a:off x="10933920" y="2743200"/>
            <a:ext cx="108216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6400" spc="-1" strike="noStrike">
                <a:solidFill>
                  <a:srgbClr val="882028"/>
                </a:solidFill>
                <a:latin typeface="Arial"/>
              </a:rPr>
              <a:t>03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89"/>
          <p:cNvSpPr/>
          <p:nvPr/>
        </p:nvSpPr>
        <p:spPr>
          <a:xfrm>
            <a:off x="9975240" y="3840480"/>
            <a:ext cx="29995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400" spc="-1" strike="noStrike">
                <a:solidFill>
                  <a:srgbClr val="000000"/>
                </a:solidFill>
                <a:latin typeface="Arial"/>
              </a:rPr>
              <a:t>Interface Web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90"/>
          <p:cNvSpPr/>
          <p:nvPr/>
        </p:nvSpPr>
        <p:spPr>
          <a:xfrm>
            <a:off x="9418320" y="4754880"/>
            <a:ext cx="4113360" cy="19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Dashboard React / Vite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Tailwind CSS 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Streaming WebSocket live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25–30 FPS temps réel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91"/>
          <p:cNvSpPr/>
          <p:nvPr/>
        </p:nvSpPr>
        <p:spPr>
          <a:xfrm>
            <a:off x="15414480" y="2743200"/>
            <a:ext cx="108216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6400" spc="-1" strike="noStrike">
                <a:solidFill>
                  <a:srgbClr val="882028"/>
                </a:solidFill>
                <a:latin typeface="Arial"/>
              </a:rPr>
              <a:t>04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92"/>
          <p:cNvSpPr/>
          <p:nvPr/>
        </p:nvSpPr>
        <p:spPr>
          <a:xfrm>
            <a:off x="15003360" y="3840480"/>
            <a:ext cx="19047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400" spc="-1" strike="noStrike">
                <a:solidFill>
                  <a:srgbClr val="000000"/>
                </a:solidFill>
                <a:latin typeface="Arial"/>
              </a:rPr>
              <a:t>2 Modes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193"/>
          <p:cNvSpPr/>
          <p:nvPr/>
        </p:nvSpPr>
        <p:spPr>
          <a:xfrm>
            <a:off x="13898880" y="4754880"/>
            <a:ext cx="4113360" cy="14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Caméra live (temps réel)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Multi-caméras simultané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3"/>
          <p:cNvSpPr/>
          <p:nvPr/>
        </p:nvSpPr>
        <p:spPr>
          <a:xfrm>
            <a:off x="1501200" y="485640"/>
            <a:ext cx="1622880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413"/>
              </a:lnSpc>
              <a:tabLst>
                <a:tab algn="l" pos="0"/>
              </a:tabLst>
            </a:pPr>
            <a:r>
              <a:rPr b="1" lang="en-US" sz="701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État de l'art</a:t>
            </a:r>
            <a:endParaRPr b="0" lang="en-US" sz="7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17190720" y="9153360"/>
            <a:ext cx="81000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9"/>
              </a:lnSpc>
            </a:pPr>
            <a:r>
              <a:rPr b="0" lang="en-US" sz="5150" spc="398" strike="noStrike">
                <a:solidFill>
                  <a:srgbClr val="000000"/>
                </a:solidFill>
                <a:latin typeface="Georgia Pro"/>
                <a:ea typeface="Georgia Pro"/>
              </a:rPr>
              <a:t>4</a:t>
            </a:r>
            <a:endParaRPr b="0" lang="en-US" sz="5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0" name="Table 180"/>
          <p:cNvGraphicFramePr/>
          <p:nvPr/>
        </p:nvGraphicFramePr>
        <p:xfrm>
          <a:off x="2771640" y="2174040"/>
          <a:ext cx="13687560" cy="6465600"/>
        </p:xfrm>
        <a:graphic>
          <a:graphicData uri="http://schemas.openxmlformats.org/drawingml/2006/table">
            <a:tbl>
              <a:tblPr/>
              <a:tblGrid>
                <a:gridCol w="3832560"/>
                <a:gridCol w="1642320"/>
                <a:gridCol w="8213040"/>
              </a:tblGrid>
              <a:tr h="1293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Modèle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820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Année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820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Contribution principale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82028"/>
                    </a:solidFill>
                  </a:tcPr>
                </a:tc>
              </a:tr>
              <a:tr h="1293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Eigenfaces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1991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Approche PCA, première méthode mathématique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93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DeepFace (Facebook)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2014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CNN profond, 97.35% sur LFW benchmark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93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FaceNet (Google)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2015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Triplet loss, embeddings 512 dimensions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93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ArcFace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2018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Angular margin loss, état de l'art actuel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49"/>
          <p:cNvSpPr/>
          <p:nvPr/>
        </p:nvSpPr>
        <p:spPr>
          <a:xfrm>
            <a:off x="1501200" y="485640"/>
            <a:ext cx="1622880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572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Outils et technologies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50"/>
          <p:cNvSpPr/>
          <p:nvPr/>
        </p:nvSpPr>
        <p:spPr>
          <a:xfrm>
            <a:off x="16994520" y="9059760"/>
            <a:ext cx="81000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9"/>
              </a:lnSpc>
            </a:pPr>
            <a:r>
              <a:rPr b="0" lang="en-US" sz="5150" spc="398" strike="noStrike">
                <a:solidFill>
                  <a:srgbClr val="000000"/>
                </a:solidFill>
                <a:latin typeface="Georgia Pro"/>
                <a:ea typeface="Georgia Pro"/>
              </a:rPr>
              <a:t>6</a:t>
            </a:r>
            <a:endParaRPr b="0" lang="en-US" sz="5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51"/>
          <p:cNvSpPr/>
          <p:nvPr/>
        </p:nvSpPr>
        <p:spPr>
          <a:xfrm>
            <a:off x="457200" y="1645920"/>
            <a:ext cx="8227800" cy="12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1" lang="en-US" sz="3800" spc="-1" strike="noStrike">
                <a:solidFill>
                  <a:srgbClr val="882028"/>
                </a:solidFill>
                <a:latin typeface="Calibri"/>
              </a:rPr>
              <a:t>Backend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Python 3.12  •  FastAPI   •  SQLite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52"/>
          <p:cNvSpPr/>
          <p:nvPr/>
        </p:nvSpPr>
        <p:spPr>
          <a:xfrm>
            <a:off x="9601200" y="1645920"/>
            <a:ext cx="8227800" cy="16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1" lang="en-US" sz="3800" spc="-1" strike="noStrike">
                <a:solidFill>
                  <a:srgbClr val="882028"/>
                </a:solidFill>
                <a:latin typeface="Calibri"/>
              </a:rPr>
              <a:t>IA / Deep Learning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DeepFace  •  TensorFlow  •  PyTorch  •  OpenCV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53"/>
          <p:cNvSpPr/>
          <p:nvPr/>
        </p:nvSpPr>
        <p:spPr>
          <a:xfrm>
            <a:off x="457200" y="4297680"/>
            <a:ext cx="8227800" cy="16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1" lang="en-US" sz="3800" spc="-1" strike="noStrike">
                <a:solidFill>
                  <a:srgbClr val="882028"/>
                </a:solidFill>
                <a:latin typeface="Calibri"/>
              </a:rPr>
              <a:t>Détection faciale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RetinaFace  •  SCRFD (ONNX)  •  FSRCNN super-résolution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54"/>
          <p:cNvSpPr/>
          <p:nvPr/>
        </p:nvSpPr>
        <p:spPr>
          <a:xfrm>
            <a:off x="9601200" y="4297680"/>
            <a:ext cx="8227800" cy="16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1" lang="en-US" sz="3800" spc="-1" strike="noStrike">
                <a:solidFill>
                  <a:srgbClr val="882028"/>
                </a:solidFill>
                <a:latin typeface="Calibri"/>
              </a:rPr>
              <a:t>Reconnaissance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ArcFace  •  Facenet512  •  Distance cosinus + vote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55"/>
          <p:cNvSpPr/>
          <p:nvPr/>
        </p:nvSpPr>
        <p:spPr>
          <a:xfrm>
            <a:off x="457200" y="6949440"/>
            <a:ext cx="8227800" cy="16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1" lang="en-US" sz="3800" spc="-1" strike="noStrike">
                <a:solidFill>
                  <a:srgbClr val="882028"/>
                </a:solidFill>
                <a:latin typeface="Calibri"/>
              </a:rPr>
              <a:t>Frontend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React  •  Vite  •  Tailwind CSS 4  •  Lucide Icons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56"/>
          <p:cNvSpPr/>
          <p:nvPr/>
        </p:nvSpPr>
        <p:spPr>
          <a:xfrm>
            <a:off x="9601200" y="6949440"/>
            <a:ext cx="8227800" cy="16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1" lang="en-US" sz="3800" spc="-1" strike="noStrike">
                <a:solidFill>
                  <a:srgbClr val="882028"/>
                </a:solidFill>
                <a:latin typeface="Calibri"/>
              </a:rPr>
              <a:t>Infrastructure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WebSocket  •  MJPEG Streaming  •  CUDA FP16  •  cuDNN bridge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2"/>
          <p:cNvSpPr/>
          <p:nvPr/>
        </p:nvSpPr>
        <p:spPr>
          <a:xfrm>
            <a:off x="1028880" y="4302360"/>
            <a:ext cx="1622880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371"/>
              </a:lnSpc>
              <a:tabLst>
                <a:tab algn="l" pos="0"/>
              </a:tabLst>
            </a:pPr>
            <a:r>
              <a:rPr b="1" lang="en-US" sz="781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Conception</a:t>
            </a:r>
            <a:endParaRPr b="0" lang="en-US" sz="78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3"/>
          <p:cNvSpPr/>
          <p:nvPr/>
        </p:nvSpPr>
        <p:spPr>
          <a:xfrm>
            <a:off x="1501200" y="485640"/>
            <a:ext cx="1622880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572"/>
              </a:lnSpc>
              <a:tabLst>
                <a:tab algn="l" pos="0"/>
              </a:tabLst>
            </a:pPr>
            <a:r>
              <a:rPr b="1" lang="en-US" sz="3809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Diagramme de cas d'utilisation</a:t>
            </a:r>
            <a:endParaRPr b="0" lang="en-US" sz="38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4"/>
          <p:cNvSpPr/>
          <p:nvPr/>
        </p:nvSpPr>
        <p:spPr>
          <a:xfrm>
            <a:off x="16994520" y="9059760"/>
            <a:ext cx="81000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9"/>
              </a:lnSpc>
            </a:pPr>
            <a:r>
              <a:rPr b="0" lang="en-US" sz="5150" spc="398" strike="noStrike">
                <a:solidFill>
                  <a:srgbClr val="000000"/>
                </a:solidFill>
                <a:latin typeface="Georgia Pro"/>
                <a:ea typeface="Georgia Pro"/>
              </a:rPr>
              <a:t>7</a:t>
            </a:r>
            <a:endParaRPr b="0" lang="en-US" sz="5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457200" y="1324440"/>
            <a:ext cx="15924240" cy="896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2"/>
          <p:cNvSpPr/>
          <p:nvPr/>
        </p:nvSpPr>
        <p:spPr>
          <a:xfrm>
            <a:off x="418320" y="447840"/>
            <a:ext cx="1622880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572"/>
              </a:lnSpc>
              <a:tabLst>
                <a:tab algn="l" pos="0"/>
              </a:tabLst>
            </a:pPr>
            <a:r>
              <a:rPr b="1" lang="en-US" sz="3809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Architecture globale</a:t>
            </a:r>
            <a:endParaRPr b="0" lang="en-US" sz="380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1239840" y="1371600"/>
            <a:ext cx="15924240" cy="896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2"/>
          <p:cNvSpPr/>
          <p:nvPr/>
        </p:nvSpPr>
        <p:spPr>
          <a:xfrm>
            <a:off x="1028880" y="4543560"/>
            <a:ext cx="1622880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371"/>
              </a:lnSpc>
              <a:tabLst>
                <a:tab algn="l" pos="0"/>
              </a:tabLst>
            </a:pPr>
            <a:r>
              <a:rPr b="1" lang="en-US" sz="781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Réalisation </a:t>
            </a:r>
            <a:endParaRPr b="0" lang="en-US" sz="78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2"/>
          <p:cNvSpPr/>
          <p:nvPr/>
        </p:nvSpPr>
        <p:spPr>
          <a:xfrm>
            <a:off x="1501200" y="485640"/>
            <a:ext cx="16228800" cy="8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732"/>
              </a:lnSpc>
              <a:tabLst>
                <a:tab algn="l" pos="0"/>
              </a:tabLst>
            </a:pPr>
            <a:r>
              <a:rPr b="1" lang="en-US" sz="561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Données et vectorisation</a:t>
            </a:r>
            <a:endParaRPr b="0" lang="en-US" sz="56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16537320" y="9059760"/>
            <a:ext cx="126720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9"/>
              </a:lnSpc>
            </a:pPr>
            <a:r>
              <a:rPr b="0" lang="en-US" sz="5150" spc="398" strike="noStrike">
                <a:solidFill>
                  <a:srgbClr val="000000"/>
                </a:solidFill>
                <a:latin typeface="HK Grotesk"/>
                <a:ea typeface="HK Grotesk"/>
              </a:rPr>
              <a:t>11</a:t>
            </a:r>
            <a:endParaRPr b="0" lang="en-US" sz="5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1501200" y="1900800"/>
            <a:ext cx="17338320" cy="276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83000" indent="-391320" algn="just" defTabSz="914400">
              <a:lnSpc>
                <a:spcPts val="435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30" spc="-1" strike="noStrike">
                <a:solidFill>
                  <a:srgbClr val="000000"/>
                </a:solidFill>
                <a:latin typeface="Georgia Pro"/>
                <a:ea typeface="Georgia Pro"/>
              </a:rPr>
              <a:t>Source : Photos enrollment via l'interface admin EMSVIA</a:t>
            </a: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  <a:p>
            <a:pPr lvl="1" marL="783000" indent="-391320" algn="just" defTabSz="914400">
              <a:lnSpc>
                <a:spcPts val="435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30" spc="-1" strike="noStrike">
                <a:solidFill>
                  <a:srgbClr val="000000"/>
                </a:solidFill>
                <a:latin typeface="Georgia Pro"/>
                <a:ea typeface="Georgia Pro"/>
              </a:rPr>
              <a:t>Format : Images JPEG, minimum 10 photos par étudiant</a:t>
            </a: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  <a:p>
            <a:pPr lvl="1" marL="783000" indent="-391320" algn="just" defTabSz="914400">
              <a:lnSpc>
                <a:spcPts val="435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30" spc="-1" strike="noStrike">
                <a:solidFill>
                  <a:srgbClr val="000000"/>
                </a:solidFill>
                <a:latin typeface="Georgia Pro"/>
                <a:ea typeface="Georgia Pro"/>
              </a:rPr>
              <a:t>Vectorisation : ArcFace via DeepFace + L2 Normalisation</a:t>
            </a: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  <a:p>
            <a:pPr lvl="1" marL="783000" indent="-391320" algn="just" defTabSz="914400">
              <a:lnSpc>
                <a:spcPts val="435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630" spc="-1" strike="noStrike">
                <a:solidFill>
                  <a:srgbClr val="000000"/>
                </a:solidFill>
                <a:latin typeface="Georgia Pro"/>
                <a:ea typeface="Georgia Pro"/>
              </a:rPr>
              <a:t>Stockage : SQLite (SQLAlchemy) + cache pickle des embeddings</a:t>
            </a: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4351"/>
              </a:lnSpc>
            </a:pPr>
            <a:endParaRPr b="0" lang="en-US" sz="363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9" name="Table 5"/>
          <p:cNvGraphicFramePr/>
          <p:nvPr/>
        </p:nvGraphicFramePr>
        <p:xfrm>
          <a:off x="4718160" y="4796280"/>
          <a:ext cx="8850240" cy="4219560"/>
        </p:xfrm>
        <a:graphic>
          <a:graphicData uri="http://schemas.openxmlformats.org/drawingml/2006/table">
            <a:tbl>
              <a:tblPr/>
              <a:tblGrid>
                <a:gridCol w="2950200"/>
                <a:gridCol w="2950200"/>
                <a:gridCol w="2950200"/>
              </a:tblGrid>
              <a:tr h="83052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Composant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Valeur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4960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Modèle de détection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3078"/>
                        </a:lnSpc>
                      </a:pPr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RetinaFace + SCRFD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Ensemble multi-détecteur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3052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Modèle de reconnaissance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ArcFace (512-dim)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Via DeepFace + L2 norm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3052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Images min. par étudiant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10 photos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Multi-angle recommandé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3052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Base de données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SQLite (SQLAlchemy)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Embeddings + présences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2"/>
          <p:cNvSpPr/>
          <p:nvPr/>
        </p:nvSpPr>
        <p:spPr>
          <a:xfrm>
            <a:off x="1501200" y="485640"/>
            <a:ext cx="16228800" cy="8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732"/>
              </a:lnSpc>
              <a:tabLst>
                <a:tab algn="l" pos="0"/>
              </a:tabLst>
            </a:pPr>
            <a:r>
              <a:rPr b="1" lang="en-US" sz="561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Tests &amp; Résultats - Métriques + Performances</a:t>
            </a:r>
            <a:endParaRPr b="0" lang="en-US" sz="56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3"/>
          <p:cNvSpPr/>
          <p:nvPr/>
        </p:nvSpPr>
        <p:spPr>
          <a:xfrm>
            <a:off x="16689600" y="9059760"/>
            <a:ext cx="111456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9"/>
              </a:lnSpc>
            </a:pPr>
            <a:r>
              <a:rPr b="0" lang="en-US" sz="5150" spc="398" strike="noStrike">
                <a:solidFill>
                  <a:srgbClr val="000000"/>
                </a:solidFill>
                <a:latin typeface="HK Grotesk"/>
                <a:ea typeface="HK Grotesk"/>
              </a:rPr>
              <a:t>13</a:t>
            </a:r>
            <a:endParaRPr b="0" lang="en-US" sz="5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2" name="Table 4"/>
          <p:cNvGraphicFramePr/>
          <p:nvPr/>
        </p:nvGraphicFramePr>
        <p:xfrm>
          <a:off x="3062880" y="2442240"/>
          <a:ext cx="13105800" cy="7313400"/>
        </p:xfrm>
        <a:graphic>
          <a:graphicData uri="http://schemas.openxmlformats.org/drawingml/2006/table">
            <a:tbl>
              <a:tblPr/>
              <a:tblGrid>
                <a:gridCol w="5808960"/>
                <a:gridCol w="4040640"/>
                <a:gridCol w="3256560"/>
              </a:tblGrid>
              <a:tr h="82548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Métrique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Valeur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Analyse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2436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FPS (GTX 1050)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3078"/>
                        </a:lnSpc>
                      </a:pPr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40+ FPS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Temps réel garanti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9988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Précision reconnaissance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&gt; 90%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Ensemble ArcFace + Facenet512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9988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Faux positifs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~0%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Gap de distance relative requis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9988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Latence de détection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&lt; 25 ms/frame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RetinaFace + SCRFD ensemble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548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Débit WebSocket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25–30 FPS stable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Dashboard fluide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548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Stabilité tracking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0" lang="en-US" sz="2100" spc="-1" strike="noStrike">
                          <a:solidFill>
                            <a:srgbClr val="000000"/>
                          </a:solidFill>
                          <a:latin typeface="Georgia Pro"/>
                          <a:ea typeface="Georgia Pro"/>
                        </a:rPr>
                        <a:t>Multi-frames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Seuil de stabilité temporelle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2"/>
          <p:cNvSpPr/>
          <p:nvPr/>
        </p:nvSpPr>
        <p:spPr>
          <a:xfrm>
            <a:off x="1028880" y="485640"/>
            <a:ext cx="1622880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413"/>
              </a:lnSpc>
              <a:tabLst>
                <a:tab algn="l" pos="0"/>
              </a:tabLst>
            </a:pPr>
            <a:r>
              <a:rPr b="1" lang="en-US" sz="701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Limites et perspectives</a:t>
            </a:r>
            <a:endParaRPr b="0" lang="en-US" sz="7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16726320" y="9059760"/>
            <a:ext cx="107820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9"/>
              </a:lnSpc>
            </a:pPr>
            <a:r>
              <a:rPr b="0" lang="en-US" sz="5150" spc="398" strike="noStrike">
                <a:solidFill>
                  <a:srgbClr val="000000"/>
                </a:solidFill>
                <a:latin typeface="HK Grotesk"/>
                <a:ea typeface="HK Grotesk"/>
              </a:rPr>
              <a:t>15</a:t>
            </a:r>
            <a:endParaRPr b="0" lang="en-US" sz="5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5" name="Table 4"/>
          <p:cNvGraphicFramePr/>
          <p:nvPr/>
        </p:nvGraphicFramePr>
        <p:xfrm>
          <a:off x="1501200" y="2125800"/>
          <a:ext cx="14441400" cy="6338160"/>
        </p:xfrm>
        <a:graphic>
          <a:graphicData uri="http://schemas.openxmlformats.org/drawingml/2006/table">
            <a:tbl>
              <a:tblPr/>
              <a:tblGrid>
                <a:gridCol w="7220880"/>
                <a:gridCol w="7220880"/>
              </a:tblGrid>
              <a:tr h="82656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Horizon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Actions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6988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Limites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3078"/>
                        </a:lnSpc>
                      </a:pPr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Anti-spoofing absent • Dataset interne limité 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0132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Court terme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Liveness detection  • Optimisation NMS ensemble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2020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Moyen terme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Support multi-salles • Alertes push/SMS • Application mobile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20200"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Long terme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pPr defTabSz="914400">
                        <a:lnSpc>
                          <a:spcPts val="2940"/>
                        </a:lnSpc>
                      </a:pPr>
                      <a:r>
                        <a:rPr b="1" lang="en-US" sz="2100" spc="-1" strike="noStrike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</a:rPr>
                        <a:t>Edge Computing (NVIDIA Jetson) • Apprentissage fédéré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5688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2"/>
          <p:cNvSpPr/>
          <p:nvPr/>
        </p:nvSpPr>
        <p:spPr>
          <a:xfrm>
            <a:off x="1028880" y="4238640"/>
            <a:ext cx="1622880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371"/>
              </a:lnSpc>
              <a:tabLst>
                <a:tab algn="l" pos="0"/>
              </a:tabLst>
            </a:pPr>
            <a:r>
              <a:rPr b="1" lang="en-US" sz="781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Démonstration interface</a:t>
            </a:r>
            <a:endParaRPr b="0" lang="en-US" sz="78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2"/>
          <p:cNvSpPr/>
          <p:nvPr/>
        </p:nvSpPr>
        <p:spPr>
          <a:xfrm>
            <a:off x="783720" y="428040"/>
            <a:ext cx="1885140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413"/>
              </a:lnSpc>
              <a:tabLst>
                <a:tab algn="l" pos="0"/>
              </a:tabLst>
            </a:pPr>
            <a:r>
              <a:rPr b="1" lang="en-US" sz="7010" spc="-1" strike="noStrike">
                <a:solidFill>
                  <a:srgbClr val="882028"/>
                </a:solidFill>
                <a:latin typeface="Georgia Pro Bold"/>
                <a:ea typeface="Georgia Pro Bold"/>
              </a:rPr>
              <a:t>Conclusion</a:t>
            </a:r>
            <a:endParaRPr b="0" lang="en-US" sz="7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16726320" y="9059760"/>
            <a:ext cx="107820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9"/>
              </a:lnSpc>
            </a:pPr>
            <a:r>
              <a:rPr b="0" lang="en-US" sz="5150" spc="398" strike="noStrike">
                <a:solidFill>
                  <a:srgbClr val="000000"/>
                </a:solidFill>
                <a:latin typeface="HK Grotesk"/>
                <a:ea typeface="HK Grotesk"/>
              </a:rPr>
              <a:t>16</a:t>
            </a:r>
            <a:endParaRPr b="0" lang="en-US" sz="5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208"/>
          <p:cNvSpPr/>
          <p:nvPr/>
        </p:nvSpPr>
        <p:spPr>
          <a:xfrm>
            <a:off x="457560" y="3049200"/>
            <a:ext cx="17372520" cy="47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EMSVIA répond à un besoin concret : automatiser le marquage de présence en temps réel grâce à la reconnaissance faciale, sans intervention humaine.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Le système atteint 40+ FPS sur GPU grand public, avec une précision supérieure à 90% et zéro faux positifs grâce au vote majoritaire entre ArcFace et Facenet512.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Un dashboard administrateur complet permet la gestion des étudiants, la surveillance en direct et la revue des visages inconnus.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882028"/>
                </a:solidFill>
                <a:latin typeface="Arial"/>
              </a:rPr>
              <a:t>Ce projet constitue une base solide, extensible vers l'anti-spoofing, le support multi-salles et le déploiement sur edge computing.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"/>
          <p:cNvSpPr/>
          <p:nvPr/>
        </p:nvSpPr>
        <p:spPr>
          <a:xfrm>
            <a:off x="2588760" y="3867120"/>
            <a:ext cx="16228800" cy="12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091"/>
              </a:lnSpc>
              <a:tabLst>
                <a:tab algn="l" pos="0"/>
              </a:tabLst>
            </a:pPr>
            <a:r>
              <a:rPr b="1" lang="en-US" sz="8410" spc="-1" strike="noStrike">
                <a:solidFill>
                  <a:srgbClr val="882028"/>
                </a:solidFill>
                <a:latin typeface="HK Grotesk Bold"/>
                <a:ea typeface="HK Grotesk Bold"/>
              </a:rPr>
              <a:t>Merci pour votre attention !</a:t>
            </a:r>
            <a:endParaRPr b="0" lang="en-US" sz="84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Application>LibreOffice/24.2.7.2$Linux_X86_64 LibreOffice_project/420$Build-2</Application>
  <AppVersion>15.0000</AppVersion>
  <Words>1325</Words>
  <Paragraphs>186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DAHIi2EjvHY</dc:identifier>
  <dc:language>en-US</dc:language>
  <cp:lastModifiedBy/>
  <dcterms:modified xsi:type="dcterms:W3CDTF">2026-05-17T23:45:36Z</dcterms:modified>
  <cp:revision>10</cp:revision>
  <dc:subject/>
  <dc:title>DetectAi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Custom</vt:lpwstr>
  </property>
  <property fmtid="{D5CDD505-2E9C-101B-9397-08002B2CF9AE}" pid="4" name="Slides">
    <vt:i4>19</vt:i4>
  </property>
</Properties>
</file>